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70" r:id="rId5"/>
    <p:sldId id="273" r:id="rId6"/>
    <p:sldId id="276" r:id="rId7"/>
    <p:sldId id="269" r:id="rId8"/>
    <p:sldId id="268" r:id="rId9"/>
    <p:sldId id="278" r:id="rId10"/>
    <p:sldId id="262" r:id="rId11"/>
    <p:sldId id="271" r:id="rId12"/>
    <p:sldId id="267"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74" r:id="rId3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4123" y="267843"/>
            <a:ext cx="11204575" cy="267843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84123" y="3256026"/>
            <a:ext cx="7810500" cy="2525395"/>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4/15/2026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tensorflow.org/" TargetMode="External"/><Relationship Id="rId2" Type="http://schemas.openxmlformats.org/officeDocument/2006/relationships/hyperlink" Target="https://scikit-learn.org/" TargetMode="External"/><Relationship Id="rId1" Type="http://schemas.openxmlformats.org/officeDocument/2006/relationships/slideLayout" Target="../slideLayouts/slideLayout4.xml"/><Relationship Id="rId4" Type="http://schemas.openxmlformats.org/officeDocument/2006/relationships/hyperlink" Target="https://www.iea.org/"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66800" y="402433"/>
            <a:ext cx="1106424" cy="1112519"/>
          </a:xfrm>
          <a:prstGeom prst="rect">
            <a:avLst/>
          </a:prstGeom>
        </p:spPr>
      </p:pic>
      <p:sp>
        <p:nvSpPr>
          <p:cNvPr id="3" name="object 3"/>
          <p:cNvSpPr txBox="1">
            <a:spLocks noGrp="1"/>
          </p:cNvSpPr>
          <p:nvPr>
            <p:ph type="title"/>
          </p:nvPr>
        </p:nvSpPr>
        <p:spPr>
          <a:xfrm>
            <a:off x="3055555" y="458948"/>
            <a:ext cx="5600700" cy="499745"/>
          </a:xfrm>
          <a:prstGeom prst="rect">
            <a:avLst/>
          </a:prstGeom>
        </p:spPr>
        <p:txBody>
          <a:bodyPr vert="horz" wrap="square" lIns="0" tIns="13970" rIns="0" bIns="0" rtlCol="0">
            <a:spAutoFit/>
          </a:bodyPr>
          <a:lstStyle/>
          <a:p>
            <a:pPr marL="12700" algn="ctr">
              <a:lnSpc>
                <a:spcPct val="100000"/>
              </a:lnSpc>
              <a:spcBef>
                <a:spcPts val="110"/>
              </a:spcBef>
            </a:pPr>
            <a:r>
              <a:rPr sz="3100" spc="85" dirty="0">
                <a:solidFill>
                  <a:srgbClr val="006EC0"/>
                </a:solidFill>
                <a:latin typeface="Candara"/>
                <a:cs typeface="Candara"/>
              </a:rPr>
              <a:t>CVR</a:t>
            </a:r>
            <a:r>
              <a:rPr sz="3100" spc="20" dirty="0">
                <a:solidFill>
                  <a:srgbClr val="006EC0"/>
                </a:solidFill>
                <a:latin typeface="Candara"/>
                <a:cs typeface="Candara"/>
              </a:rPr>
              <a:t> </a:t>
            </a:r>
            <a:r>
              <a:rPr sz="3100" spc="80" dirty="0">
                <a:solidFill>
                  <a:srgbClr val="006EC0"/>
                </a:solidFill>
                <a:latin typeface="Candara"/>
                <a:cs typeface="Candara"/>
              </a:rPr>
              <a:t>COLLEGE</a:t>
            </a:r>
            <a:r>
              <a:rPr sz="3100" spc="40" dirty="0">
                <a:solidFill>
                  <a:srgbClr val="006EC0"/>
                </a:solidFill>
                <a:latin typeface="Candara"/>
                <a:cs typeface="Candara"/>
              </a:rPr>
              <a:t> </a:t>
            </a:r>
            <a:r>
              <a:rPr sz="3100" spc="90" dirty="0">
                <a:solidFill>
                  <a:srgbClr val="006EC0"/>
                </a:solidFill>
                <a:latin typeface="Candara"/>
                <a:cs typeface="Candara"/>
              </a:rPr>
              <a:t>OF</a:t>
            </a:r>
            <a:r>
              <a:rPr sz="3100" spc="35" dirty="0">
                <a:solidFill>
                  <a:srgbClr val="006EC0"/>
                </a:solidFill>
                <a:latin typeface="Candara"/>
                <a:cs typeface="Candara"/>
              </a:rPr>
              <a:t> </a:t>
            </a:r>
            <a:r>
              <a:rPr sz="3100" spc="70" dirty="0">
                <a:solidFill>
                  <a:srgbClr val="006EC0"/>
                </a:solidFill>
                <a:latin typeface="Candara"/>
                <a:cs typeface="Candara"/>
              </a:rPr>
              <a:t>ENGINEERING</a:t>
            </a:r>
            <a:endParaRPr sz="3100" dirty="0">
              <a:latin typeface="Candara"/>
              <a:cs typeface="Candara"/>
            </a:endParaRPr>
          </a:p>
        </p:txBody>
      </p:sp>
      <p:sp>
        <p:nvSpPr>
          <p:cNvPr id="4" name="object 4"/>
          <p:cNvSpPr txBox="1"/>
          <p:nvPr/>
        </p:nvSpPr>
        <p:spPr>
          <a:xfrm>
            <a:off x="1985263" y="1051290"/>
            <a:ext cx="7741284" cy="495934"/>
          </a:xfrm>
          <a:prstGeom prst="rect">
            <a:avLst/>
          </a:prstGeom>
        </p:spPr>
        <p:txBody>
          <a:bodyPr vert="horz" wrap="square" lIns="0" tIns="33655" rIns="0" bIns="0" rtlCol="0">
            <a:spAutoFit/>
          </a:bodyPr>
          <a:lstStyle/>
          <a:p>
            <a:pPr marL="635000" algn="ctr">
              <a:lnSpc>
                <a:spcPct val="100000"/>
              </a:lnSpc>
              <a:spcBef>
                <a:spcPts val="265"/>
              </a:spcBef>
            </a:pPr>
            <a:r>
              <a:rPr sz="1400" b="1" spc="50" dirty="0">
                <a:latin typeface="Times New Roman"/>
                <a:cs typeface="Times New Roman"/>
              </a:rPr>
              <a:t>(</a:t>
            </a:r>
            <a:r>
              <a:rPr sz="1400" b="1" i="1" spc="50" dirty="0">
                <a:latin typeface="Times New Roman"/>
                <a:cs typeface="Times New Roman"/>
              </a:rPr>
              <a:t>An</a:t>
            </a:r>
            <a:r>
              <a:rPr sz="1400" b="1" i="1" spc="135" dirty="0">
                <a:latin typeface="Times New Roman"/>
                <a:cs typeface="Times New Roman"/>
              </a:rPr>
              <a:t> </a:t>
            </a:r>
            <a:r>
              <a:rPr sz="1400" b="1" i="1" spc="20" dirty="0">
                <a:latin typeface="Times New Roman"/>
                <a:cs typeface="Times New Roman"/>
              </a:rPr>
              <a:t>Autonomous</a:t>
            </a:r>
            <a:r>
              <a:rPr sz="1400" b="1" i="1" spc="125" dirty="0">
                <a:latin typeface="Times New Roman"/>
                <a:cs typeface="Times New Roman"/>
              </a:rPr>
              <a:t> </a:t>
            </a:r>
            <a:r>
              <a:rPr sz="1400" b="1" i="1" spc="20" dirty="0">
                <a:latin typeface="Times New Roman"/>
                <a:cs typeface="Times New Roman"/>
              </a:rPr>
              <a:t>Institution,</a:t>
            </a:r>
            <a:r>
              <a:rPr sz="1400" b="1" i="1" spc="140" dirty="0">
                <a:latin typeface="Times New Roman"/>
                <a:cs typeface="Times New Roman"/>
              </a:rPr>
              <a:t> </a:t>
            </a:r>
            <a:r>
              <a:rPr sz="1400" b="1" i="1" spc="20" dirty="0">
                <a:latin typeface="Times New Roman"/>
                <a:cs typeface="Times New Roman"/>
              </a:rPr>
              <a:t>NBA,</a:t>
            </a:r>
            <a:r>
              <a:rPr sz="1400" b="1" i="1" spc="145" dirty="0">
                <a:latin typeface="Times New Roman"/>
                <a:cs typeface="Times New Roman"/>
              </a:rPr>
              <a:t> </a:t>
            </a:r>
            <a:r>
              <a:rPr sz="1400" b="1" i="1" spc="55" dirty="0">
                <a:latin typeface="Times New Roman"/>
                <a:cs typeface="Times New Roman"/>
              </a:rPr>
              <a:t>NAAC</a:t>
            </a:r>
            <a:r>
              <a:rPr sz="1400" b="1" i="1" spc="130" dirty="0">
                <a:latin typeface="Times New Roman"/>
                <a:cs typeface="Times New Roman"/>
              </a:rPr>
              <a:t> </a:t>
            </a:r>
            <a:r>
              <a:rPr sz="1400" b="1" i="1" spc="20" dirty="0">
                <a:latin typeface="Times New Roman"/>
                <a:cs typeface="Times New Roman"/>
              </a:rPr>
              <a:t>Accredited</a:t>
            </a:r>
            <a:r>
              <a:rPr sz="1400" b="1" i="1" spc="125" dirty="0">
                <a:latin typeface="Times New Roman"/>
                <a:cs typeface="Times New Roman"/>
              </a:rPr>
              <a:t> </a:t>
            </a:r>
            <a:r>
              <a:rPr sz="1400" b="1" i="1" spc="20" dirty="0">
                <a:latin typeface="Times New Roman"/>
                <a:cs typeface="Times New Roman"/>
              </a:rPr>
              <a:t>and</a:t>
            </a:r>
            <a:r>
              <a:rPr sz="1400" b="1" i="1" spc="145" dirty="0">
                <a:latin typeface="Times New Roman"/>
                <a:cs typeface="Times New Roman"/>
              </a:rPr>
              <a:t> </a:t>
            </a:r>
            <a:r>
              <a:rPr sz="1400" b="1" i="1" spc="20" dirty="0">
                <a:latin typeface="Times New Roman"/>
                <a:cs typeface="Times New Roman"/>
              </a:rPr>
              <a:t>Affiliated</a:t>
            </a:r>
            <a:r>
              <a:rPr sz="1400" b="1" i="1" spc="120" dirty="0">
                <a:latin typeface="Times New Roman"/>
                <a:cs typeface="Times New Roman"/>
              </a:rPr>
              <a:t> </a:t>
            </a:r>
            <a:r>
              <a:rPr sz="1400" b="1" i="1" spc="20" dirty="0">
                <a:latin typeface="Times New Roman"/>
                <a:cs typeface="Times New Roman"/>
              </a:rPr>
              <a:t>to</a:t>
            </a:r>
            <a:r>
              <a:rPr sz="1400" b="1" i="1" spc="145" dirty="0">
                <a:latin typeface="Times New Roman"/>
                <a:cs typeface="Times New Roman"/>
              </a:rPr>
              <a:t> </a:t>
            </a:r>
            <a:r>
              <a:rPr sz="1400" b="1" i="1" spc="20" dirty="0">
                <a:latin typeface="Times New Roman"/>
                <a:cs typeface="Times New Roman"/>
              </a:rPr>
              <a:t>JNTU,</a:t>
            </a:r>
            <a:r>
              <a:rPr sz="1400" b="1" i="1" spc="114" dirty="0">
                <a:latin typeface="Times New Roman"/>
                <a:cs typeface="Times New Roman"/>
              </a:rPr>
              <a:t> </a:t>
            </a:r>
            <a:r>
              <a:rPr sz="1400" b="1" i="1" spc="35" dirty="0">
                <a:latin typeface="Times New Roman"/>
                <a:cs typeface="Times New Roman"/>
              </a:rPr>
              <a:t>Hyderabad</a:t>
            </a:r>
            <a:r>
              <a:rPr sz="1400" b="1" spc="35" dirty="0">
                <a:latin typeface="Times New Roman"/>
                <a:cs typeface="Times New Roman"/>
              </a:rPr>
              <a:t>)</a:t>
            </a:r>
            <a:endParaRPr sz="1400" dirty="0">
              <a:latin typeface="Times New Roman"/>
              <a:cs typeface="Times New Roman"/>
            </a:endParaRPr>
          </a:p>
          <a:p>
            <a:pPr marL="12700" algn="ctr">
              <a:lnSpc>
                <a:spcPct val="100000"/>
              </a:lnSpc>
              <a:spcBef>
                <a:spcPts val="170"/>
              </a:spcBef>
            </a:pPr>
            <a:r>
              <a:rPr sz="1400" spc="20" dirty="0">
                <a:solidFill>
                  <a:srgbClr val="535241"/>
                </a:solidFill>
                <a:latin typeface="Times New Roman"/>
                <a:cs typeface="Times New Roman"/>
              </a:rPr>
              <a:t>Vastunagar,</a:t>
            </a:r>
            <a:r>
              <a:rPr sz="1400" spc="250" dirty="0">
                <a:solidFill>
                  <a:srgbClr val="535241"/>
                </a:solidFill>
                <a:latin typeface="Times New Roman"/>
                <a:cs typeface="Times New Roman"/>
              </a:rPr>
              <a:t> </a:t>
            </a:r>
            <a:r>
              <a:rPr sz="1400" spc="20" dirty="0">
                <a:solidFill>
                  <a:srgbClr val="535241"/>
                </a:solidFill>
                <a:latin typeface="Times New Roman"/>
                <a:cs typeface="Times New Roman"/>
              </a:rPr>
              <a:t>Mangalpalli</a:t>
            </a:r>
            <a:r>
              <a:rPr sz="1400" spc="265" dirty="0">
                <a:solidFill>
                  <a:srgbClr val="535241"/>
                </a:solidFill>
                <a:latin typeface="Times New Roman"/>
                <a:cs typeface="Times New Roman"/>
              </a:rPr>
              <a:t> </a:t>
            </a:r>
            <a:r>
              <a:rPr sz="1400" spc="20" dirty="0">
                <a:solidFill>
                  <a:srgbClr val="535241"/>
                </a:solidFill>
                <a:latin typeface="Times New Roman"/>
                <a:cs typeface="Times New Roman"/>
              </a:rPr>
              <a:t>(V),</a:t>
            </a:r>
            <a:r>
              <a:rPr sz="1400" spc="250" dirty="0">
                <a:solidFill>
                  <a:srgbClr val="535241"/>
                </a:solidFill>
                <a:latin typeface="Times New Roman"/>
                <a:cs typeface="Times New Roman"/>
              </a:rPr>
              <a:t> </a:t>
            </a:r>
            <a:r>
              <a:rPr sz="1400" spc="20" dirty="0">
                <a:solidFill>
                  <a:srgbClr val="535241"/>
                </a:solidFill>
                <a:latin typeface="Times New Roman"/>
                <a:cs typeface="Times New Roman"/>
              </a:rPr>
              <a:t>Ibrahimpatnam</a:t>
            </a:r>
            <a:r>
              <a:rPr sz="1400" spc="204" dirty="0">
                <a:solidFill>
                  <a:srgbClr val="535241"/>
                </a:solidFill>
                <a:latin typeface="Times New Roman"/>
                <a:cs typeface="Times New Roman"/>
              </a:rPr>
              <a:t> </a:t>
            </a:r>
            <a:r>
              <a:rPr sz="1400" spc="20" dirty="0">
                <a:solidFill>
                  <a:srgbClr val="535241"/>
                </a:solidFill>
                <a:latin typeface="Times New Roman"/>
                <a:cs typeface="Times New Roman"/>
              </a:rPr>
              <a:t>(M),</a:t>
            </a:r>
            <a:r>
              <a:rPr sz="1400" spc="254" dirty="0">
                <a:solidFill>
                  <a:srgbClr val="535241"/>
                </a:solidFill>
                <a:latin typeface="Times New Roman"/>
                <a:cs typeface="Times New Roman"/>
              </a:rPr>
              <a:t> </a:t>
            </a:r>
            <a:r>
              <a:rPr sz="1400" spc="20" dirty="0">
                <a:solidFill>
                  <a:srgbClr val="535241"/>
                </a:solidFill>
                <a:latin typeface="Times New Roman"/>
                <a:cs typeface="Times New Roman"/>
              </a:rPr>
              <a:t>Rangareddy</a:t>
            </a:r>
            <a:r>
              <a:rPr sz="1400" spc="220" dirty="0">
                <a:solidFill>
                  <a:srgbClr val="535241"/>
                </a:solidFill>
                <a:latin typeface="Times New Roman"/>
                <a:cs typeface="Times New Roman"/>
              </a:rPr>
              <a:t> </a:t>
            </a:r>
            <a:r>
              <a:rPr sz="1400" spc="20" dirty="0">
                <a:solidFill>
                  <a:srgbClr val="535241"/>
                </a:solidFill>
                <a:latin typeface="Times New Roman"/>
                <a:cs typeface="Times New Roman"/>
              </a:rPr>
              <a:t>(D),Telangana-</a:t>
            </a:r>
            <a:r>
              <a:rPr sz="1400" spc="-10" dirty="0">
                <a:solidFill>
                  <a:srgbClr val="535241"/>
                </a:solidFill>
                <a:latin typeface="Times New Roman"/>
                <a:cs typeface="Times New Roman"/>
              </a:rPr>
              <a:t>501510</a:t>
            </a:r>
            <a:endParaRPr sz="1400" dirty="0">
              <a:latin typeface="Times New Roman"/>
              <a:cs typeface="Times New Roman"/>
            </a:endParaRPr>
          </a:p>
        </p:txBody>
      </p:sp>
      <p:sp>
        <p:nvSpPr>
          <p:cNvPr id="5" name="object 5"/>
          <p:cNvSpPr txBox="1"/>
          <p:nvPr/>
        </p:nvSpPr>
        <p:spPr>
          <a:xfrm>
            <a:off x="3631819" y="1974850"/>
            <a:ext cx="3981450" cy="2284095"/>
          </a:xfrm>
          <a:prstGeom prst="rect">
            <a:avLst/>
          </a:prstGeom>
        </p:spPr>
        <p:txBody>
          <a:bodyPr vert="horz" wrap="square" lIns="0" tIns="12700" rIns="0" bIns="0" rtlCol="0">
            <a:spAutoFit/>
          </a:bodyPr>
          <a:lstStyle/>
          <a:p>
            <a:pPr marL="12700">
              <a:lnSpc>
                <a:spcPct val="100000"/>
              </a:lnSpc>
              <a:spcBef>
                <a:spcPts val="100"/>
              </a:spcBef>
            </a:pPr>
            <a:r>
              <a:rPr sz="2400" b="1" spc="-35" dirty="0">
                <a:latin typeface="Times New Roman"/>
                <a:cs typeface="Times New Roman"/>
              </a:rPr>
              <a:t>DEPARTMENT</a:t>
            </a:r>
            <a:r>
              <a:rPr sz="2400" b="1" spc="-50" dirty="0">
                <a:latin typeface="Times New Roman"/>
                <a:cs typeface="Times New Roman"/>
              </a:rPr>
              <a:t> </a:t>
            </a:r>
            <a:r>
              <a:rPr sz="2400" b="1" dirty="0">
                <a:latin typeface="Times New Roman"/>
                <a:cs typeface="Times New Roman"/>
              </a:rPr>
              <a:t>OF</a:t>
            </a:r>
            <a:r>
              <a:rPr sz="2400" b="1" spc="-120" dirty="0">
                <a:latin typeface="Times New Roman"/>
                <a:cs typeface="Times New Roman"/>
              </a:rPr>
              <a:t> </a:t>
            </a:r>
            <a:r>
              <a:rPr sz="2400" b="1" dirty="0">
                <a:latin typeface="Times New Roman"/>
                <a:cs typeface="Times New Roman"/>
              </a:rPr>
              <a:t>CSE</a:t>
            </a:r>
            <a:r>
              <a:rPr sz="2400" b="1" spc="-20" dirty="0">
                <a:latin typeface="Times New Roman"/>
                <a:cs typeface="Times New Roman"/>
              </a:rPr>
              <a:t> (DS)</a:t>
            </a:r>
            <a:endParaRPr sz="2400" dirty="0">
              <a:latin typeface="Times New Roman"/>
              <a:cs typeface="Times New Roman"/>
            </a:endParaRPr>
          </a:p>
          <a:p>
            <a:pPr marL="283845" marR="274955" indent="245110">
              <a:lnSpc>
                <a:spcPct val="200000"/>
              </a:lnSpc>
              <a:spcBef>
                <a:spcPts val="500"/>
              </a:spcBef>
            </a:pPr>
            <a:r>
              <a:rPr sz="2000" b="1" dirty="0">
                <a:latin typeface="Times New Roman"/>
                <a:cs typeface="Times New Roman"/>
              </a:rPr>
              <a:t>B.</a:t>
            </a:r>
            <a:r>
              <a:rPr sz="2000" b="1" spc="-55" dirty="0">
                <a:latin typeface="Times New Roman"/>
                <a:cs typeface="Times New Roman"/>
              </a:rPr>
              <a:t> </a:t>
            </a:r>
            <a:r>
              <a:rPr sz="2000" b="1" spc="-30" dirty="0">
                <a:latin typeface="Times New Roman"/>
                <a:cs typeface="Times New Roman"/>
              </a:rPr>
              <a:t>Tech </a:t>
            </a:r>
            <a:r>
              <a:rPr sz="2000" b="1" dirty="0">
                <a:latin typeface="Times New Roman"/>
                <a:cs typeface="Times New Roman"/>
              </a:rPr>
              <a:t>III</a:t>
            </a:r>
            <a:r>
              <a:rPr sz="2000" b="1" spc="-110" dirty="0">
                <a:latin typeface="Times New Roman"/>
                <a:cs typeface="Times New Roman"/>
              </a:rPr>
              <a:t> </a:t>
            </a:r>
            <a:r>
              <a:rPr sz="2000" b="1" spc="-55" dirty="0">
                <a:latin typeface="Times New Roman"/>
                <a:cs typeface="Times New Roman"/>
              </a:rPr>
              <a:t>Year</a:t>
            </a:r>
            <a:r>
              <a:rPr sz="2000" b="1" spc="-60" dirty="0">
                <a:latin typeface="Times New Roman"/>
                <a:cs typeface="Times New Roman"/>
              </a:rPr>
              <a:t> </a:t>
            </a:r>
            <a:r>
              <a:rPr sz="2000" b="1" dirty="0">
                <a:latin typeface="Times New Roman"/>
                <a:cs typeface="Times New Roman"/>
              </a:rPr>
              <a:t>II</a:t>
            </a:r>
            <a:r>
              <a:rPr sz="2000" b="1" spc="-35" dirty="0">
                <a:latin typeface="Times New Roman"/>
                <a:cs typeface="Times New Roman"/>
              </a:rPr>
              <a:t> </a:t>
            </a:r>
            <a:r>
              <a:rPr sz="2000" b="1" spc="-10" dirty="0">
                <a:latin typeface="Times New Roman"/>
                <a:cs typeface="Times New Roman"/>
              </a:rPr>
              <a:t>Semster </a:t>
            </a:r>
            <a:r>
              <a:rPr sz="2000" b="1" dirty="0">
                <a:latin typeface="Times New Roman"/>
                <a:cs typeface="Times New Roman"/>
              </a:rPr>
              <a:t>Industry</a:t>
            </a:r>
            <a:r>
              <a:rPr sz="2000" b="1" spc="-45" dirty="0">
                <a:latin typeface="Times New Roman"/>
                <a:cs typeface="Times New Roman"/>
              </a:rPr>
              <a:t> </a:t>
            </a:r>
            <a:r>
              <a:rPr sz="2000" b="1" dirty="0">
                <a:latin typeface="Times New Roman"/>
                <a:cs typeface="Times New Roman"/>
              </a:rPr>
              <a:t>Oriented</a:t>
            </a:r>
            <a:r>
              <a:rPr sz="2000" b="1" spc="-25" dirty="0">
                <a:latin typeface="Times New Roman"/>
                <a:cs typeface="Times New Roman"/>
              </a:rPr>
              <a:t> </a:t>
            </a:r>
            <a:r>
              <a:rPr sz="2000" b="1" dirty="0">
                <a:latin typeface="Times New Roman"/>
                <a:cs typeface="Times New Roman"/>
              </a:rPr>
              <a:t>Mini</a:t>
            </a:r>
            <a:r>
              <a:rPr sz="2000" b="1" spc="-30" dirty="0">
                <a:latin typeface="Times New Roman"/>
                <a:cs typeface="Times New Roman"/>
              </a:rPr>
              <a:t> </a:t>
            </a:r>
            <a:r>
              <a:rPr sz="2000" b="1" spc="-10" dirty="0">
                <a:latin typeface="Times New Roman"/>
                <a:cs typeface="Times New Roman"/>
              </a:rPr>
              <a:t>Project</a:t>
            </a:r>
            <a:endParaRPr sz="2000" dirty="0">
              <a:latin typeface="Times New Roman"/>
              <a:cs typeface="Times New Roman"/>
            </a:endParaRPr>
          </a:p>
          <a:p>
            <a:pPr>
              <a:lnSpc>
                <a:spcPct val="100000"/>
              </a:lnSpc>
              <a:spcBef>
                <a:spcPts val="95"/>
              </a:spcBef>
            </a:pPr>
            <a:endParaRPr sz="2000" dirty="0">
              <a:latin typeface="Times New Roman"/>
              <a:cs typeface="Times New Roman"/>
            </a:endParaRPr>
          </a:p>
          <a:p>
            <a:pPr marL="1001394">
              <a:lnSpc>
                <a:spcPct val="100000"/>
              </a:lnSpc>
              <a:spcBef>
                <a:spcPts val="5"/>
              </a:spcBef>
            </a:pPr>
            <a:r>
              <a:rPr sz="2000" b="1" dirty="0">
                <a:latin typeface="Times New Roman"/>
                <a:cs typeface="Times New Roman"/>
              </a:rPr>
              <a:t>Project</a:t>
            </a:r>
            <a:r>
              <a:rPr sz="2000" b="1" spc="-60" dirty="0">
                <a:latin typeface="Times New Roman"/>
                <a:cs typeface="Times New Roman"/>
              </a:rPr>
              <a:t> </a:t>
            </a:r>
            <a:r>
              <a:rPr sz="2000" b="1" dirty="0">
                <a:latin typeface="Times New Roman"/>
                <a:cs typeface="Times New Roman"/>
              </a:rPr>
              <a:t>Review</a:t>
            </a:r>
            <a:r>
              <a:rPr sz="2000" b="1" spc="-20" dirty="0">
                <a:latin typeface="Times New Roman"/>
                <a:cs typeface="Times New Roman"/>
              </a:rPr>
              <a:t> </a:t>
            </a:r>
            <a:r>
              <a:rPr sz="2000" b="1" dirty="0">
                <a:latin typeface="Times New Roman"/>
                <a:cs typeface="Times New Roman"/>
              </a:rPr>
              <a:t>-</a:t>
            </a:r>
            <a:r>
              <a:rPr sz="2000" b="1" spc="-15" dirty="0">
                <a:latin typeface="Times New Roman"/>
                <a:cs typeface="Times New Roman"/>
              </a:rPr>
              <a:t> </a:t>
            </a:r>
            <a:r>
              <a:rPr lang="en-IN" sz="2000" b="1" spc="-50" dirty="0">
                <a:latin typeface="Times New Roman"/>
                <a:cs typeface="Times New Roman"/>
              </a:rPr>
              <a:t>2</a:t>
            </a:r>
            <a:endParaRPr sz="20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1066800"/>
            <a:ext cx="7620000" cy="504625"/>
          </a:xfrm>
          <a:prstGeom prst="rect">
            <a:avLst/>
          </a:prstGeom>
        </p:spPr>
        <p:txBody>
          <a:bodyPr vert="horz" wrap="square" lIns="0" tIns="12065" rIns="0" bIns="0" rtlCol="0" anchor="t">
            <a:spAutoFit/>
          </a:bodyPr>
          <a:lstStyle/>
          <a:p>
            <a:pPr marL="12700" algn="ctr">
              <a:spcBef>
                <a:spcPts val="95"/>
              </a:spcBef>
            </a:pPr>
            <a:r>
              <a:rPr lang="en-IN" sz="3200" dirty="0"/>
              <a:t>Electric Vehicle Energy Demand Prediction</a:t>
            </a:r>
            <a:endParaRPr lang="en-US" sz="3200" dirty="0"/>
          </a:p>
        </p:txBody>
      </p:sp>
      <p:sp>
        <p:nvSpPr>
          <p:cNvPr id="3" name="object 3"/>
          <p:cNvSpPr txBox="1"/>
          <p:nvPr/>
        </p:nvSpPr>
        <p:spPr>
          <a:xfrm>
            <a:off x="4000500" y="2209800"/>
            <a:ext cx="4191000" cy="3793346"/>
          </a:xfrm>
          <a:prstGeom prst="rect">
            <a:avLst/>
          </a:prstGeom>
        </p:spPr>
        <p:txBody>
          <a:bodyPr vert="horz" wrap="square" lIns="0" tIns="149860" rIns="0" bIns="0" rtlCol="0" anchor="t">
            <a:spAutoFit/>
          </a:bodyPr>
          <a:lstStyle/>
          <a:p>
            <a:pPr algn="ctr">
              <a:lnSpc>
                <a:spcPct val="100000"/>
              </a:lnSpc>
              <a:spcBef>
                <a:spcPts val="1180"/>
              </a:spcBef>
            </a:pPr>
            <a:r>
              <a:rPr sz="1800" spc="-25" dirty="0">
                <a:latin typeface="Times New Roman"/>
                <a:cs typeface="Times New Roman"/>
              </a:rPr>
              <a:t>By</a:t>
            </a:r>
            <a:endParaRPr sz="1800" dirty="0">
              <a:latin typeface="Times New Roman"/>
              <a:cs typeface="Times New Roman"/>
            </a:endParaRPr>
          </a:p>
          <a:p>
            <a:pPr marL="79375" algn="ctr">
              <a:spcBef>
                <a:spcPts val="1080"/>
              </a:spcBef>
            </a:pPr>
            <a:r>
              <a:rPr lang="en-US" b="1" spc="-10" dirty="0">
                <a:latin typeface="Times New Roman"/>
                <a:cs typeface="Times New Roman"/>
              </a:rPr>
              <a:t>Khushi Bung(23B81A6785</a:t>
            </a:r>
            <a:r>
              <a:rPr lang="en-US" sz="1800" b="1" spc="-10" dirty="0">
                <a:latin typeface="Times New Roman"/>
                <a:cs typeface="Times New Roman"/>
              </a:rPr>
              <a:t>)</a:t>
            </a:r>
            <a:endParaRPr lang="en-US" sz="1800" spc="-10" dirty="0">
              <a:latin typeface="Times New Roman"/>
              <a:cs typeface="Times New Roman"/>
            </a:endParaRPr>
          </a:p>
          <a:p>
            <a:pPr marL="79375" algn="ctr">
              <a:spcBef>
                <a:spcPts val="1080"/>
              </a:spcBef>
            </a:pPr>
            <a:r>
              <a:rPr lang="en-US" b="1" spc="-20" dirty="0">
                <a:latin typeface="Times New Roman"/>
                <a:cs typeface="Times New Roman"/>
              </a:rPr>
              <a:t>Karnati Sharvani </a:t>
            </a:r>
            <a:r>
              <a:rPr lang="en-US" sz="1800" b="1" spc="-10" dirty="0">
                <a:latin typeface="Times New Roman"/>
                <a:cs typeface="Times New Roman"/>
              </a:rPr>
              <a:t>(</a:t>
            </a:r>
            <a:r>
              <a:rPr lang="en-US" b="1" spc="-10" dirty="0">
                <a:latin typeface="Times New Roman"/>
                <a:cs typeface="Times New Roman"/>
              </a:rPr>
              <a:t>23B81A67A7)</a:t>
            </a:r>
            <a:endParaRPr lang="en-US" sz="1800" dirty="0">
              <a:latin typeface="Times New Roman"/>
              <a:cs typeface="Times New Roman"/>
            </a:endParaRPr>
          </a:p>
          <a:p>
            <a:pPr marL="12700" algn="ctr">
              <a:spcBef>
                <a:spcPts val="1080"/>
              </a:spcBef>
            </a:pPr>
            <a:r>
              <a:rPr lang="en-US" b="1" dirty="0">
                <a:latin typeface="Times New Roman"/>
                <a:cs typeface="Times New Roman"/>
              </a:rPr>
              <a:t>Ethineni Vishnu Vardhan </a:t>
            </a:r>
            <a:r>
              <a:rPr lang="en-US" sz="1800" b="1" spc="-10" dirty="0">
                <a:latin typeface="Times New Roman"/>
                <a:cs typeface="Times New Roman"/>
              </a:rPr>
              <a:t>(</a:t>
            </a:r>
            <a:r>
              <a:rPr lang="en-US" b="1" spc="-10" dirty="0">
                <a:latin typeface="Times New Roman"/>
                <a:cs typeface="Times New Roman"/>
              </a:rPr>
              <a:t>23B81A67C7</a:t>
            </a:r>
            <a:r>
              <a:rPr lang="en-US" sz="1800" b="1" spc="-10" dirty="0">
                <a:latin typeface="Times New Roman"/>
                <a:cs typeface="Times New Roman"/>
              </a:rPr>
              <a:t>)</a:t>
            </a:r>
            <a:endParaRPr lang="en-US" sz="1800" dirty="0">
              <a:latin typeface="Times New Roman"/>
              <a:cs typeface="Times New Roman"/>
            </a:endParaRPr>
          </a:p>
          <a:p>
            <a:pPr algn="ctr">
              <a:lnSpc>
                <a:spcPct val="100000"/>
              </a:lnSpc>
            </a:pPr>
            <a:endParaRPr sz="1800" dirty="0">
              <a:latin typeface="Times New Roman"/>
              <a:cs typeface="Times New Roman"/>
            </a:endParaRPr>
          </a:p>
          <a:p>
            <a:pPr algn="ctr">
              <a:lnSpc>
                <a:spcPct val="100000"/>
              </a:lnSpc>
              <a:spcBef>
                <a:spcPts val="180"/>
              </a:spcBef>
            </a:pPr>
            <a:endParaRPr sz="1800" dirty="0">
              <a:latin typeface="Times New Roman"/>
              <a:cs typeface="Times New Roman"/>
            </a:endParaRPr>
          </a:p>
          <a:p>
            <a:pPr algn="ctr">
              <a:lnSpc>
                <a:spcPct val="100000"/>
              </a:lnSpc>
            </a:pPr>
            <a:r>
              <a:rPr sz="1800" dirty="0">
                <a:latin typeface="Times New Roman"/>
                <a:cs typeface="Times New Roman"/>
              </a:rPr>
              <a:t>Under</a:t>
            </a:r>
            <a:r>
              <a:rPr sz="1800" spc="-45" dirty="0">
                <a:latin typeface="Times New Roman"/>
                <a:cs typeface="Times New Roman"/>
              </a:rPr>
              <a:t> </a:t>
            </a:r>
            <a:r>
              <a:rPr sz="1800" dirty="0">
                <a:latin typeface="Times New Roman"/>
                <a:cs typeface="Times New Roman"/>
              </a:rPr>
              <a:t>the</a:t>
            </a:r>
            <a:r>
              <a:rPr sz="1800" spc="-40" dirty="0">
                <a:latin typeface="Times New Roman"/>
                <a:cs typeface="Times New Roman"/>
              </a:rPr>
              <a:t> </a:t>
            </a:r>
            <a:r>
              <a:rPr sz="1800" dirty="0">
                <a:latin typeface="Times New Roman"/>
                <a:cs typeface="Times New Roman"/>
              </a:rPr>
              <a:t>guidance</a:t>
            </a:r>
            <a:r>
              <a:rPr sz="1800" spc="-45" dirty="0">
                <a:latin typeface="Times New Roman"/>
                <a:cs typeface="Times New Roman"/>
              </a:rPr>
              <a:t> </a:t>
            </a:r>
            <a:r>
              <a:rPr sz="1800" spc="-25" dirty="0">
                <a:latin typeface="Times New Roman"/>
                <a:cs typeface="Times New Roman"/>
              </a:rPr>
              <a:t>of</a:t>
            </a:r>
            <a:endParaRPr sz="1800" dirty="0">
              <a:latin typeface="Times New Roman"/>
              <a:cs typeface="Times New Roman"/>
            </a:endParaRPr>
          </a:p>
          <a:p>
            <a:pPr marL="55880" algn="ctr">
              <a:spcBef>
                <a:spcPts val="1080"/>
              </a:spcBef>
            </a:pPr>
            <a:r>
              <a:rPr lang="en-US" sz="1800" b="1" spc="-35" dirty="0">
                <a:latin typeface="Times New Roman"/>
                <a:cs typeface="Times New Roman"/>
              </a:rPr>
              <a:t>Mr. Hari Shankar </a:t>
            </a:r>
            <a:r>
              <a:rPr lang="en-US" sz="1800" b="1" spc="-35" dirty="0" err="1">
                <a:latin typeface="Times New Roman"/>
                <a:cs typeface="Times New Roman"/>
              </a:rPr>
              <a:t>Punna</a:t>
            </a:r>
            <a:endParaRPr lang="en-US" sz="1800" b="1" spc="-35" dirty="0">
              <a:latin typeface="Times New Roman"/>
              <a:cs typeface="Times New Roman"/>
            </a:endParaRPr>
          </a:p>
          <a:p>
            <a:pPr marL="55880" algn="ctr">
              <a:spcBef>
                <a:spcPts val="1080"/>
              </a:spcBef>
            </a:pPr>
            <a:r>
              <a:rPr lang="en-US" b="1" spc="-35" dirty="0">
                <a:latin typeface="Times New Roman"/>
                <a:cs typeface="Times New Roman"/>
              </a:rPr>
              <a:t> Sr. Asst. professor</a:t>
            </a:r>
            <a:endParaRPr lang="en-US" sz="1800" b="1" spc="-35" dirty="0">
              <a:latin typeface="Times New Roman"/>
              <a:cs typeface="Times New Roman"/>
            </a:endParaRPr>
          </a:p>
          <a:p>
            <a:pPr marL="55880" algn="ctr">
              <a:spcBef>
                <a:spcPts val="1080"/>
              </a:spcBef>
            </a:pPr>
            <a:r>
              <a:rPr lang="en-US" sz="1800" spc="-35" dirty="0">
                <a:latin typeface="Times New Roman"/>
                <a:cs typeface="Times New Roman"/>
              </a:rPr>
              <a:t>Department</a:t>
            </a:r>
            <a:r>
              <a:rPr sz="1800" spc="-35" dirty="0">
                <a:latin typeface="Times New Roman"/>
                <a:cs typeface="Times New Roman"/>
              </a:rPr>
              <a:t> </a:t>
            </a:r>
            <a:r>
              <a:rPr sz="1800" dirty="0">
                <a:latin typeface="Times New Roman"/>
                <a:cs typeface="Times New Roman"/>
              </a:rPr>
              <a:t>of</a:t>
            </a:r>
            <a:r>
              <a:rPr sz="1800" spc="-30" dirty="0">
                <a:latin typeface="Times New Roman"/>
                <a:cs typeface="Times New Roman"/>
              </a:rPr>
              <a:t> </a:t>
            </a:r>
            <a:r>
              <a:rPr sz="1800" dirty="0">
                <a:latin typeface="Times New Roman"/>
                <a:cs typeface="Times New Roman"/>
              </a:rPr>
              <a:t>CSE</a:t>
            </a:r>
            <a:r>
              <a:rPr sz="1800" spc="-25" dirty="0">
                <a:latin typeface="Times New Roman"/>
                <a:cs typeface="Times New Roman"/>
              </a:rPr>
              <a:t> </a:t>
            </a:r>
            <a:r>
              <a:rPr sz="1800" spc="-20" dirty="0">
                <a:latin typeface="Times New Roman"/>
                <a:cs typeface="Times New Roman"/>
              </a:rPr>
              <a:t>(DS)</a:t>
            </a:r>
            <a:endParaRPr sz="1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96017"/>
            <a:ext cx="2260499" cy="391160"/>
          </a:xfrm>
          <a:prstGeom prst="rect">
            <a:avLst/>
          </a:prstGeom>
        </p:spPr>
        <p:txBody>
          <a:bodyPr vert="horz" wrap="square" lIns="0" tIns="12700" rIns="0" bIns="0" rtlCol="0">
            <a:spAutoFit/>
          </a:bodyPr>
          <a:lstStyle/>
          <a:p>
            <a:pPr marL="12700">
              <a:lnSpc>
                <a:spcPct val="100000"/>
              </a:lnSpc>
              <a:spcBef>
                <a:spcPts val="100"/>
              </a:spcBef>
            </a:pPr>
            <a:r>
              <a:rPr spc="-10" dirty="0"/>
              <a:t>ABSTRACT</a:t>
            </a:r>
          </a:p>
        </p:txBody>
      </p:sp>
      <p:sp>
        <p:nvSpPr>
          <p:cNvPr id="3" name="object 3"/>
          <p:cNvSpPr txBox="1"/>
          <p:nvPr/>
        </p:nvSpPr>
        <p:spPr>
          <a:xfrm>
            <a:off x="457200" y="990600"/>
            <a:ext cx="11201399" cy="5275803"/>
          </a:xfrm>
          <a:prstGeom prst="rect">
            <a:avLst/>
          </a:prstGeom>
        </p:spPr>
        <p:txBody>
          <a:bodyPr vert="horz" wrap="square" lIns="0" tIns="12700" rIns="0" bIns="0" rtlCol="0" anchor="t">
            <a:spAutoFit/>
          </a:bodyPr>
          <a:lstStyle/>
          <a:p>
            <a:pPr algn="just">
              <a:lnSpc>
                <a:spcPct val="150000"/>
              </a:lnSpc>
            </a:pPr>
            <a:r>
              <a:rPr lang="en-IN" sz="1800" dirty="0">
                <a:latin typeface="Times New Roman" panose="02020603050405020304" pitchFamily="18" charset="0"/>
                <a:cs typeface="Times New Roman" panose="02020603050405020304" pitchFamily="18" charset="0"/>
              </a:rPr>
              <a:t>	The project titled </a:t>
            </a:r>
            <a:r>
              <a:rPr lang="en-IN" sz="1800" b="1" dirty="0">
                <a:latin typeface="Times New Roman" panose="02020603050405020304" pitchFamily="18" charset="0"/>
                <a:cs typeface="Times New Roman" panose="02020603050405020304" pitchFamily="18" charset="0"/>
              </a:rPr>
              <a:t>“Electric Vehicle Energy Demand Prediction”</a:t>
            </a:r>
            <a:r>
              <a:rPr lang="en-IN" sz="1800" dirty="0">
                <a:latin typeface="Times New Roman" panose="02020603050405020304" pitchFamily="18" charset="0"/>
                <a:cs typeface="Times New Roman" panose="02020603050405020304" pitchFamily="18" charset="0"/>
              </a:rPr>
              <a:t> focuses on building an intelligent system capable of predicting EV charging demand using Machine Learning and Deep Learning techniques.</a:t>
            </a:r>
          </a:p>
          <a:p>
            <a:pPr algn="just">
              <a:lnSpc>
                <a:spcPct val="150000"/>
              </a:lnSpc>
            </a:pPr>
            <a:r>
              <a:rPr lang="en-IN" sz="1800" dirty="0">
                <a:latin typeface="Times New Roman" panose="02020603050405020304" pitchFamily="18" charset="0"/>
                <a:cs typeface="Times New Roman" panose="02020603050405020304" pitchFamily="18" charset="0"/>
              </a:rPr>
              <a:t>The system integrates:</a:t>
            </a:r>
          </a:p>
          <a:p>
            <a:pPr marL="285750" lvl="0"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Data preprocessing pipeline </a:t>
            </a:r>
          </a:p>
          <a:p>
            <a:pPr marL="285750" lvl="0"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Multiple predictive models (Linear Regression, ANN, LSTM) </a:t>
            </a:r>
          </a:p>
          <a:p>
            <a:pPr marL="285750" lvl="0"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Automated model selection </a:t>
            </a:r>
          </a:p>
          <a:p>
            <a:pPr marL="285750" lvl="0"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Real-time prediction interface using Streamlit </a:t>
            </a:r>
          </a:p>
          <a:p>
            <a:pPr algn="just">
              <a:lnSpc>
                <a:spcPct val="150000"/>
              </a:lnSpc>
            </a:pPr>
            <a:r>
              <a:rPr lang="en-IN" sz="1800" dirty="0">
                <a:latin typeface="Times New Roman" panose="02020603050405020304" pitchFamily="18" charset="0"/>
                <a:cs typeface="Times New Roman" panose="02020603050405020304" pitchFamily="18" charset="0"/>
              </a:rPr>
              <a:t>	The dataset includes features such as time, weather conditions, number of EVs, charging capacity, and energy parameters. Advanced preprocessing techniques like feature engineering, encoding, and normalization are applied.</a:t>
            </a:r>
          </a:p>
          <a:p>
            <a:pPr algn="just">
              <a:lnSpc>
                <a:spcPct val="150000"/>
              </a:lnSpc>
            </a:pPr>
            <a:r>
              <a:rPr lang="en-IN" sz="1800" dirty="0">
                <a:latin typeface="Times New Roman" panose="02020603050405020304" pitchFamily="18" charset="0"/>
                <a:cs typeface="Times New Roman" panose="02020603050405020304" pitchFamily="18" charset="0"/>
              </a:rPr>
              <a:t>The trained models are evaluated using metrics like RMSE, MAE, and R² score. The best-performing model is automatically selected and deployed for real-time </a:t>
            </a:r>
            <a:r>
              <a:rPr lang="en-IN" sz="1800" dirty="0" err="1">
                <a:latin typeface="Times New Roman" panose="02020603050405020304" pitchFamily="18" charset="0"/>
                <a:cs typeface="Times New Roman" panose="02020603050405020304" pitchFamily="18" charset="0"/>
              </a:rPr>
              <a:t>predictions.This</a:t>
            </a:r>
            <a:r>
              <a:rPr lang="en-IN" sz="1800" dirty="0">
                <a:latin typeface="Times New Roman" panose="02020603050405020304" pitchFamily="18" charset="0"/>
                <a:cs typeface="Times New Roman" panose="02020603050405020304" pitchFamily="18" charset="0"/>
              </a:rPr>
              <a:t> system helps optimize EV charging infrastructure, reduce grid overload, and support smart energy management systems.</a:t>
            </a: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47C36-2649-10F6-5FC6-38A36F33D976}"/>
              </a:ext>
            </a:extLst>
          </p:cNvPr>
          <p:cNvSpPr>
            <a:spLocks noGrp="1"/>
          </p:cNvSpPr>
          <p:nvPr>
            <p:ph type="title"/>
          </p:nvPr>
        </p:nvSpPr>
        <p:spPr>
          <a:xfrm>
            <a:off x="493304" y="1149192"/>
            <a:ext cx="11204575" cy="369332"/>
          </a:xfrm>
        </p:spPr>
        <p:txBody>
          <a:bodyPr wrap="square" lIns="0" tIns="0" rIns="0" bIns="0" anchor="t">
            <a:spAutoFit/>
          </a:bodyPr>
          <a:lstStyle/>
          <a:p>
            <a:r>
              <a:rPr lang="en-US" dirty="0"/>
              <a:t>INTRODUCTION</a:t>
            </a:r>
          </a:p>
        </p:txBody>
      </p:sp>
      <p:sp>
        <p:nvSpPr>
          <p:cNvPr id="3" name="Text Placeholder 2">
            <a:extLst>
              <a:ext uri="{FF2B5EF4-FFF2-40B4-BE49-F238E27FC236}">
                <a16:creationId xmlns:a16="http://schemas.microsoft.com/office/drawing/2014/main" id="{7302AF1F-B272-9B08-9700-E1371B5FD283}"/>
              </a:ext>
            </a:extLst>
          </p:cNvPr>
          <p:cNvSpPr>
            <a:spLocks noGrp="1"/>
          </p:cNvSpPr>
          <p:nvPr>
            <p:ph type="body" idx="1"/>
          </p:nvPr>
        </p:nvSpPr>
        <p:spPr>
          <a:xfrm>
            <a:off x="493304" y="1905000"/>
            <a:ext cx="11207367" cy="2858731"/>
          </a:xfrm>
        </p:spPr>
        <p:txBody>
          <a:bodyPr wrap="square" lIns="0" tIns="0" rIns="0" bIns="0" anchor="t">
            <a:spAutoFit/>
          </a:bodyPr>
          <a:lstStyle/>
          <a:p>
            <a:pPr algn="just">
              <a:lnSpc>
                <a:spcPct val="150000"/>
              </a:lnSpc>
            </a:pPr>
            <a:r>
              <a:rPr lang="en-US" sz="1800" b="0" dirty="0"/>
              <a:t>	Electric Vehicles are gaining widespread popularity due to their environmental benefits, reduced carbon emissions, and improved energy efficiency. However, large-scale EV integration poses challenges to existing power grids because EV charging demand varies significantly based on time, user behavior, and external factors. Traditional energy demand forecasting techniques are not sufficient to handle such dynamic and nonlinear patterns. Machine learning and deep learning approaches provide effective solutions by learning complex relationships from historical data. This project explores and compares linear and nonlinear models to accurately predict EV energy demand, helping in efficient power system planning and smart grid management.</a:t>
            </a:r>
          </a:p>
        </p:txBody>
      </p:sp>
    </p:spTree>
    <p:extLst>
      <p:ext uri="{BB962C8B-B14F-4D97-AF65-F5344CB8AC3E}">
        <p14:creationId xmlns:p14="http://schemas.microsoft.com/office/powerpoint/2010/main" val="313325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89DF5-75F4-2B68-FB87-7DED911C9790}"/>
              </a:ext>
            </a:extLst>
          </p:cNvPr>
          <p:cNvSpPr>
            <a:spLocks noGrp="1"/>
          </p:cNvSpPr>
          <p:nvPr>
            <p:ph type="title"/>
          </p:nvPr>
        </p:nvSpPr>
        <p:spPr>
          <a:xfrm>
            <a:off x="410317" y="297388"/>
            <a:ext cx="11204575" cy="369332"/>
          </a:xfrm>
        </p:spPr>
        <p:txBody>
          <a:bodyPr wrap="square" lIns="0" tIns="0" rIns="0" bIns="0" anchor="t">
            <a:spAutoFit/>
          </a:bodyPr>
          <a:lstStyle/>
          <a:p>
            <a:r>
              <a:rPr lang="en-US" dirty="0"/>
              <a:t>LITERATURE SURVEY</a:t>
            </a:r>
          </a:p>
        </p:txBody>
      </p:sp>
      <p:sp>
        <p:nvSpPr>
          <p:cNvPr id="7" name="Rectangle 4">
            <a:extLst>
              <a:ext uri="{FF2B5EF4-FFF2-40B4-BE49-F238E27FC236}">
                <a16:creationId xmlns:a16="http://schemas.microsoft.com/office/drawing/2014/main" id="{DDBAF4D7-7194-8D89-585D-2B48245D944C}"/>
              </a:ext>
            </a:extLst>
          </p:cNvPr>
          <p:cNvSpPr>
            <a:spLocks noGrp="1" noChangeArrowheads="1"/>
          </p:cNvSpPr>
          <p:nvPr>
            <p:ph type="body" idx="1"/>
          </p:nvPr>
        </p:nvSpPr>
        <p:spPr bwMode="auto">
          <a:xfrm>
            <a:off x="437356" y="743635"/>
            <a:ext cx="1131728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research on Electric Vehicle (EV) energy demand prediction mainly used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statistical models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Linear Regression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provided simple demand estimates but failed to model nonlinear charging behavior.</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Time-series forecasting techniques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ARIMA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were later introduced to capture temporal patterns in EV charging data. These models showed better short-term prediction accuracy but performed poorly for long-term forecasting.</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the growth of data availability,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approaches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gained attention for EV demand prediction due to their ability to learn complex relationships from historical data.</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 Neural Networks (ANN)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have been widely used to model nonlinear patterns in EV energy consumption and have demonstrated improved accuracy over traditional statistical methods.</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Recent studies emphasize the effectiveness of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Long Short-Term Memory (LSTM)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networks for EV energy prediction, as they can capture long-term temporal dependencies using memory cells.</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Comparative studies reveal that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models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especially LSTM, consistently outperform linear and traditional time-series models in terms of prediction accuracy.</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findings motivate the adoption of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and deep learning-based approaches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accurate and reliable EV energy demand forecasting.</a:t>
            </a:r>
          </a:p>
        </p:txBody>
      </p:sp>
    </p:spTree>
    <p:extLst>
      <p:ext uri="{BB962C8B-B14F-4D97-AF65-F5344CB8AC3E}">
        <p14:creationId xmlns:p14="http://schemas.microsoft.com/office/powerpoint/2010/main" val="84058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13F95-B744-24FB-0B84-F93C1B86A31B}"/>
              </a:ext>
            </a:extLst>
          </p:cNvPr>
          <p:cNvSpPr>
            <a:spLocks noGrp="1"/>
          </p:cNvSpPr>
          <p:nvPr>
            <p:ph type="title"/>
          </p:nvPr>
        </p:nvSpPr>
        <p:spPr>
          <a:xfrm>
            <a:off x="762000" y="685800"/>
            <a:ext cx="11204575" cy="369332"/>
          </a:xfrm>
        </p:spPr>
        <p:txBody>
          <a:bodyPr/>
          <a:lstStyle/>
          <a:p>
            <a:r>
              <a:rPr lang="en-IN" dirty="0"/>
              <a:t>Challenges:</a:t>
            </a:r>
          </a:p>
        </p:txBody>
      </p:sp>
      <p:sp>
        <p:nvSpPr>
          <p:cNvPr id="4" name="TextBox 3">
            <a:extLst>
              <a:ext uri="{FF2B5EF4-FFF2-40B4-BE49-F238E27FC236}">
                <a16:creationId xmlns:a16="http://schemas.microsoft.com/office/drawing/2014/main" id="{1630679B-9D48-9DEC-1F0C-90A1E6F3E91C}"/>
              </a:ext>
            </a:extLst>
          </p:cNvPr>
          <p:cNvSpPr txBox="1"/>
          <p:nvPr/>
        </p:nvSpPr>
        <p:spPr>
          <a:xfrm>
            <a:off x="685800" y="1295400"/>
            <a:ext cx="10363200" cy="2534027"/>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 Difficulty in capturing complex nonlinear relationships in EV charging data using traditional models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Limited accuracy of statistical and time-series models for long-term prediction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Requirement of large datasets for training deep learning models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High computational cost associated with ANN and LSTM models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Handling dynamic factors such as time, weather, and user behavior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Lack of real-time prediction capability in many existing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323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DC7FC-AD14-C101-0B6F-750D5BF20023}"/>
              </a:ext>
            </a:extLst>
          </p:cNvPr>
          <p:cNvSpPr>
            <a:spLocks noGrp="1"/>
          </p:cNvSpPr>
          <p:nvPr>
            <p:ph type="title"/>
          </p:nvPr>
        </p:nvSpPr>
        <p:spPr>
          <a:xfrm>
            <a:off x="484123" y="635072"/>
            <a:ext cx="11204575" cy="369332"/>
          </a:xfrm>
        </p:spPr>
        <p:txBody>
          <a:bodyPr wrap="square" lIns="0" tIns="0" rIns="0" bIns="0" anchor="t">
            <a:spAutoFit/>
          </a:bodyPr>
          <a:lstStyle/>
          <a:p>
            <a:r>
              <a:rPr lang="en-US" dirty="0"/>
              <a:t>PROBLEM STATEMENT</a:t>
            </a:r>
          </a:p>
        </p:txBody>
      </p:sp>
      <p:sp>
        <p:nvSpPr>
          <p:cNvPr id="3" name="Text Placeholder 2">
            <a:extLst>
              <a:ext uri="{FF2B5EF4-FFF2-40B4-BE49-F238E27FC236}">
                <a16:creationId xmlns:a16="http://schemas.microsoft.com/office/drawing/2014/main" id="{15594537-1C4F-58EC-57C4-0FCE1C66361F}"/>
              </a:ext>
            </a:extLst>
          </p:cNvPr>
          <p:cNvSpPr>
            <a:spLocks noGrp="1"/>
          </p:cNvSpPr>
          <p:nvPr>
            <p:ph type="body" idx="1"/>
          </p:nvPr>
        </p:nvSpPr>
        <p:spPr>
          <a:xfrm>
            <a:off x="484123" y="1401265"/>
            <a:ext cx="10463728" cy="4125745"/>
          </a:xfrm>
        </p:spPr>
        <p:txBody>
          <a:bodyPr wrap="square" lIns="0" tIns="0" rIns="0" bIns="0" anchor="t">
            <a:spAutoFit/>
          </a:bodyPr>
          <a:lstStyle/>
          <a:p>
            <a:pPr marL="12700" algn="just">
              <a:lnSpc>
                <a:spcPct val="150000"/>
              </a:lnSpc>
              <a:spcBef>
                <a:spcPts val="1745"/>
              </a:spcBef>
            </a:pPr>
            <a:r>
              <a:rPr lang="en-US" sz="1800" b="0" dirty="0"/>
              <a:t>	The increasing penetration of electric vehicles results in highly variable and uncertain energy demand patterns that traditional forecasting models cannot accurately predict. Poor prediction accuracy may lead to grid instability, inefficient load distribution, and increased operational costs. Therefore, there is a need for an intelligent prediction system capable of accurately forecasting EV energy demand using advanced data-driven techniques.</a:t>
            </a:r>
          </a:p>
          <a:p>
            <a:pPr marL="12700" algn="just">
              <a:lnSpc>
                <a:spcPct val="150000"/>
              </a:lnSpc>
              <a:spcBef>
                <a:spcPts val="1745"/>
              </a:spcBef>
            </a:pPr>
            <a:r>
              <a:rPr lang="en-US" sz="1800" b="0" dirty="0"/>
              <a:t>	The EV Energy Demand Prediction System aims to accurately forecast charging demand using real-time inputs like location, time, and weather. It automatically selects the best model and provides a user-friendly interface for easy prediction and analysis. </a:t>
            </a:r>
            <a:endParaRPr lang="en-IN" sz="1800" b="0" dirty="0"/>
          </a:p>
          <a:p>
            <a:pPr marL="12700" algn="just">
              <a:lnSpc>
                <a:spcPct val="150000"/>
              </a:lnSpc>
              <a:spcBef>
                <a:spcPts val="1745"/>
              </a:spcBef>
            </a:pPr>
            <a:endParaRPr lang="en-US" sz="1800" b="0" dirty="0"/>
          </a:p>
        </p:txBody>
      </p:sp>
    </p:spTree>
    <p:extLst>
      <p:ext uri="{BB962C8B-B14F-4D97-AF65-F5344CB8AC3E}">
        <p14:creationId xmlns:p14="http://schemas.microsoft.com/office/powerpoint/2010/main" val="2596084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536BE-F919-8519-F5FC-0BAD4208FEB7}"/>
              </a:ext>
            </a:extLst>
          </p:cNvPr>
          <p:cNvSpPr>
            <a:spLocks noGrp="1"/>
          </p:cNvSpPr>
          <p:nvPr>
            <p:ph type="title"/>
          </p:nvPr>
        </p:nvSpPr>
        <p:spPr>
          <a:xfrm>
            <a:off x="581498" y="1295400"/>
            <a:ext cx="11204575" cy="369332"/>
          </a:xfrm>
        </p:spPr>
        <p:txBody>
          <a:bodyPr wrap="square" lIns="0" tIns="0" rIns="0" bIns="0" anchor="t">
            <a:spAutoFit/>
          </a:bodyPr>
          <a:lstStyle/>
          <a:p>
            <a:r>
              <a:rPr lang="en-US" dirty="0"/>
              <a:t>OBJECTIVES</a:t>
            </a:r>
          </a:p>
        </p:txBody>
      </p:sp>
      <p:sp>
        <p:nvSpPr>
          <p:cNvPr id="4" name="Rectangle 1">
            <a:extLst>
              <a:ext uri="{FF2B5EF4-FFF2-40B4-BE49-F238E27FC236}">
                <a16:creationId xmlns:a16="http://schemas.microsoft.com/office/drawing/2014/main" id="{8AED2A79-726F-BFF1-FBC6-540FD67185FC}"/>
              </a:ext>
            </a:extLst>
          </p:cNvPr>
          <p:cNvSpPr>
            <a:spLocks noGrp="1" noChangeArrowheads="1"/>
          </p:cNvSpPr>
          <p:nvPr>
            <p:ph type="body" idx="1"/>
          </p:nvPr>
        </p:nvSpPr>
        <p:spPr bwMode="auto">
          <a:xfrm>
            <a:off x="566750" y="2049427"/>
            <a:ext cx="10482250"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nSpc>
                <a:spcPct val="150000"/>
              </a:lnSpc>
              <a:buFont typeface="Arial" panose="020B0604020202020204" pitchFamily="34" charset="0"/>
              <a:buChar char="•"/>
            </a:pPr>
            <a:r>
              <a:rPr lang="en-IN" sz="1800" b="0" dirty="0"/>
              <a:t>Develop a preprocessing pipeline to clean, transform, and prepare EV charging data</a:t>
            </a:r>
          </a:p>
          <a:p>
            <a:pPr marL="285750" indent="-285750">
              <a:lnSpc>
                <a:spcPct val="150000"/>
              </a:lnSpc>
              <a:buFont typeface="Arial" panose="020B0604020202020204" pitchFamily="34" charset="0"/>
              <a:buChar char="•"/>
            </a:pPr>
            <a:r>
              <a:rPr lang="en-IN" sz="1800" b="0" dirty="0"/>
              <a:t>Train multiple models (Linear Regression, ANN, LSTM) to capture different data patterns</a:t>
            </a:r>
          </a:p>
          <a:p>
            <a:pPr marL="285750" indent="-285750">
              <a:lnSpc>
                <a:spcPct val="150000"/>
              </a:lnSpc>
              <a:buFont typeface="Arial" panose="020B0604020202020204" pitchFamily="34" charset="0"/>
              <a:buChar char="•"/>
            </a:pPr>
            <a:r>
              <a:rPr lang="en-IN" sz="1800" b="0" dirty="0"/>
              <a:t>Compare model performance using RMSE, MAE, and R² score</a:t>
            </a:r>
          </a:p>
          <a:p>
            <a:pPr marL="285750" indent="-285750">
              <a:lnSpc>
                <a:spcPct val="150000"/>
              </a:lnSpc>
              <a:buFont typeface="Arial" panose="020B0604020202020204" pitchFamily="34" charset="0"/>
              <a:buChar char="•"/>
            </a:pPr>
            <a:r>
              <a:rPr lang="en-IN" sz="1800" b="0" dirty="0"/>
              <a:t>Deploy a real-time prediction system using Streamlit</a:t>
            </a:r>
          </a:p>
          <a:p>
            <a:pPr marL="285750" indent="-285750">
              <a:lnSpc>
                <a:spcPct val="150000"/>
              </a:lnSpc>
              <a:buFont typeface="Arial" panose="020B0604020202020204" pitchFamily="34" charset="0"/>
              <a:buChar char="•"/>
            </a:pPr>
            <a:r>
              <a:rPr lang="en-IN" sz="1800" b="0" dirty="0"/>
              <a:t>Visualize EV demand trends and model results for better analysis</a:t>
            </a:r>
          </a:p>
        </p:txBody>
      </p:sp>
    </p:spTree>
    <p:extLst>
      <p:ext uri="{BB962C8B-B14F-4D97-AF65-F5344CB8AC3E}">
        <p14:creationId xmlns:p14="http://schemas.microsoft.com/office/powerpoint/2010/main" val="1683277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826F37-5E76-0F04-7592-5473C7DFC7E0}"/>
              </a:ext>
            </a:extLst>
          </p:cNvPr>
          <p:cNvSpPr txBox="1"/>
          <p:nvPr/>
        </p:nvSpPr>
        <p:spPr>
          <a:xfrm>
            <a:off x="609600" y="457200"/>
            <a:ext cx="10363200" cy="2684325"/>
          </a:xfrm>
          <a:prstGeom prst="rect">
            <a:avLst/>
          </a:prstGeom>
          <a:noFill/>
        </p:spPr>
        <p:txBody>
          <a:bodyPr wrap="square">
            <a:spAutoFit/>
          </a:bodyPr>
          <a:lstStyle/>
          <a:p>
            <a:pPr algn="just">
              <a:lnSpc>
                <a:spcPct val="150000"/>
              </a:lnSpc>
              <a:spcAft>
                <a:spcPts val="800"/>
              </a:spcAft>
              <a:buNone/>
            </a:pPr>
            <a:r>
              <a:rPr lang="en-IN" sz="2000" b="1" dirty="0">
                <a:effectLst/>
                <a:latin typeface="Times New Roman" panose="02020603050405020304" pitchFamily="18" charset="0"/>
                <a:ea typeface="Times New Roman" panose="02020603050405020304" pitchFamily="18" charset="0"/>
              </a:rPr>
              <a:t>EXISTING WORK</a:t>
            </a:r>
            <a:endParaRPr lang="en-IN" sz="1600" dirty="0">
              <a:effectLst/>
              <a:latin typeface="Times New Roman" panose="02020603050405020304" pitchFamily="18" charset="0"/>
              <a:ea typeface="Times New Roman" panose="02020603050405020304" pitchFamily="18" charset="0"/>
            </a:endParaRPr>
          </a:p>
          <a:p>
            <a:pPr indent="457200" algn="just">
              <a:lnSpc>
                <a:spcPct val="150000"/>
              </a:lnSpc>
              <a:spcAft>
                <a:spcPts val="800"/>
              </a:spcAft>
              <a:buNone/>
            </a:pPr>
            <a:r>
              <a:rPr lang="en-US" sz="1800" dirty="0">
                <a:effectLst/>
                <a:latin typeface="Times New Roman" panose="02020603050405020304" pitchFamily="18" charset="0"/>
                <a:ea typeface="Times New Roman" panose="02020603050405020304" pitchFamily="18" charset="0"/>
              </a:rPr>
              <a:t>Most existing systems for Electric Vehicle (EV) energy demand prediction rely on basic statistical methods or single machine learning models to estimate charging demand. These systems typically use historical data and limited parameters such as time, number of vehicles, or weather conditions. While some advanced approaches use machine learning or deep learning models, they are often developed as standalone solutions without integrating preprocessing, model comparison, and real-time prediction in a single platform.</a:t>
            </a:r>
            <a:endParaRPr lang="en-IN" sz="1600" dirty="0">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7683A1B1-3A7A-0718-07E8-01EB463D95D9}"/>
              </a:ext>
            </a:extLst>
          </p:cNvPr>
          <p:cNvSpPr txBox="1"/>
          <p:nvPr/>
        </p:nvSpPr>
        <p:spPr>
          <a:xfrm>
            <a:off x="609600" y="3306107"/>
            <a:ext cx="10368116" cy="3094693"/>
          </a:xfrm>
          <a:prstGeom prst="rect">
            <a:avLst/>
          </a:prstGeom>
          <a:noFill/>
        </p:spPr>
        <p:txBody>
          <a:bodyPr wrap="square">
            <a:spAutoFit/>
          </a:bodyPr>
          <a:lstStyle/>
          <a:p>
            <a:pPr algn="just">
              <a:lnSpc>
                <a:spcPct val="150000"/>
              </a:lnSpc>
              <a:spcAft>
                <a:spcPts val="800"/>
              </a:spcAft>
            </a:pPr>
            <a:r>
              <a:rPr lang="en-IN" sz="2000" b="1" dirty="0">
                <a:effectLst/>
                <a:latin typeface="Times New Roman" panose="02020603050405020304" pitchFamily="18" charset="0"/>
                <a:ea typeface="Times New Roman" panose="02020603050405020304" pitchFamily="18" charset="0"/>
              </a:rPr>
              <a:t>LIMITATIONS</a:t>
            </a:r>
            <a:endParaRPr lang="en-IN" sz="1600" dirty="0">
              <a:effectLst/>
              <a:latin typeface="Times New Roman" panose="02020603050405020304" pitchFamily="18" charset="0"/>
              <a:ea typeface="Times New Roman" panose="02020603050405020304" pitchFamily="18" charset="0"/>
            </a:endParaRPr>
          </a:p>
          <a:p>
            <a:pPr marL="285750" lvl="0" indent="-285750" algn="just">
              <a:lnSpc>
                <a:spcPct val="150000"/>
              </a:lnSpc>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Limited accuracy due to use of single models</a:t>
            </a:r>
            <a:endParaRPr lang="en-IN" sz="1600" dirty="0">
              <a:effectLst/>
              <a:latin typeface="Times New Roman" panose="02020603050405020304" pitchFamily="18" charset="0"/>
              <a:ea typeface="Times New Roman" panose="02020603050405020304" pitchFamily="18" charset="0"/>
            </a:endParaRPr>
          </a:p>
          <a:p>
            <a:pPr marL="285750" lvl="0" indent="-285750" algn="just">
              <a:lnSpc>
                <a:spcPct val="150000"/>
              </a:lnSpc>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Poor handling of complex and dynamic demand patterns</a:t>
            </a:r>
            <a:endParaRPr lang="en-IN" sz="1600" dirty="0">
              <a:effectLst/>
              <a:latin typeface="Times New Roman" panose="02020603050405020304" pitchFamily="18" charset="0"/>
              <a:ea typeface="Times New Roman" panose="02020603050405020304" pitchFamily="18" charset="0"/>
            </a:endParaRPr>
          </a:p>
          <a:p>
            <a:pPr marL="285750" lvl="0" indent="-285750" algn="just">
              <a:lnSpc>
                <a:spcPct val="150000"/>
              </a:lnSpc>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High computational requirements for advanced models</a:t>
            </a:r>
            <a:endParaRPr lang="en-IN" sz="1600" dirty="0">
              <a:effectLst/>
              <a:latin typeface="Times New Roman" panose="02020603050405020304" pitchFamily="18" charset="0"/>
              <a:ea typeface="Times New Roman" panose="02020603050405020304" pitchFamily="18" charset="0"/>
            </a:endParaRPr>
          </a:p>
          <a:p>
            <a:pPr marL="285750" lvl="0" indent="-285750" algn="just">
              <a:lnSpc>
                <a:spcPct val="150000"/>
              </a:lnSpc>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Lack of real-time prediction and deployment</a:t>
            </a:r>
            <a:endParaRPr lang="en-IN" sz="1600" dirty="0">
              <a:effectLst/>
              <a:latin typeface="Times New Roman" panose="02020603050405020304" pitchFamily="18" charset="0"/>
              <a:ea typeface="Times New Roman" panose="02020603050405020304" pitchFamily="18" charset="0"/>
            </a:endParaRPr>
          </a:p>
          <a:p>
            <a:pPr marL="285750" lvl="0" indent="-285750" algn="just">
              <a:lnSpc>
                <a:spcPct val="150000"/>
              </a:lnSpc>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No integration of preprocessing, training, and inference in one system</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72581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533400"/>
            <a:ext cx="10807065" cy="4883003"/>
          </a:xfrm>
          <a:prstGeom prst="rect">
            <a:avLst/>
          </a:prstGeom>
        </p:spPr>
        <p:txBody>
          <a:bodyPr vert="horz" wrap="square" lIns="0" tIns="221615" rIns="0" bIns="0" rtlCol="0">
            <a:spAutoFit/>
          </a:bodyPr>
          <a:lstStyle/>
          <a:p>
            <a:pPr marL="12700" algn="just">
              <a:lnSpc>
                <a:spcPct val="150000"/>
              </a:lnSpc>
              <a:spcBef>
                <a:spcPts val="1745"/>
              </a:spcBef>
            </a:pPr>
            <a:r>
              <a:rPr dirty="0"/>
              <a:t>PROPOSED</a:t>
            </a:r>
            <a:r>
              <a:rPr lang="en-IN" spc="-90" dirty="0"/>
              <a:t> </a:t>
            </a:r>
            <a:r>
              <a:rPr spc="-10" dirty="0"/>
              <a:t>SYSTEM</a:t>
            </a:r>
            <a:endParaRPr lang="en-IN" spc="-10" dirty="0"/>
          </a:p>
          <a:p>
            <a:pPr>
              <a:lnSpc>
                <a:spcPct val="150000"/>
              </a:lnSpc>
            </a:pPr>
            <a:br>
              <a:rPr lang="en-US" sz="1800" b="0" dirty="0"/>
            </a:br>
            <a:r>
              <a:rPr lang="en-US" sz="1800" b="0" dirty="0"/>
              <a:t>	</a:t>
            </a:r>
            <a:r>
              <a:rPr lang="en-IN" sz="1800" b="0" dirty="0"/>
              <a:t>The system accepts inputs such as time, weather conditions, number of electric vehicles (EVs), and charging station capacity. These inputs are processed through a preprocessing pipeline that performs data cleaning, feature engineering, encoding, and scaling. The processed data is then used to train multiple machine learning and deep learning models including Linear Regression, Artificial Neural Network (ANN), and Long Short-Term Memory (LSTM).</a:t>
            </a:r>
            <a:br>
              <a:rPr lang="en-IN" sz="1800" b="0" dirty="0"/>
            </a:br>
            <a:r>
              <a:rPr lang="en-IN" sz="1800" b="0" dirty="0"/>
              <a:t>	The system evaluates all trained models using performance metrics such as RMSE, MAE, and R² score, and automatically selects the best-performing model. This selected model is then used during the inference stage to predict real-time EV energy demand through an interactive user interface.</a:t>
            </a:r>
            <a:br>
              <a:rPr lang="en-IN" sz="1800" b="0" dirty="0"/>
            </a:br>
            <a:endParaRPr lang="en-US" sz="1800" b="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31EC8-91FE-1D67-A665-E14DDC21F01B}"/>
              </a:ext>
            </a:extLst>
          </p:cNvPr>
          <p:cNvSpPr>
            <a:spLocks noGrp="1"/>
          </p:cNvSpPr>
          <p:nvPr>
            <p:ph type="title"/>
          </p:nvPr>
        </p:nvSpPr>
        <p:spPr>
          <a:xfrm>
            <a:off x="404591" y="303074"/>
            <a:ext cx="11204575" cy="738664"/>
          </a:xfrm>
        </p:spPr>
        <p:txBody>
          <a:bodyPr wrap="square" lIns="0" tIns="0" rIns="0" bIns="0" anchor="t">
            <a:spAutoFit/>
          </a:bodyPr>
          <a:lstStyle/>
          <a:p>
            <a:pPr algn="l"/>
            <a:r>
              <a:rPr lang="en-US" dirty="0"/>
              <a:t>LIST OF MODULES </a:t>
            </a:r>
            <a:endParaRPr lang="en-US" b="0" dirty="0"/>
          </a:p>
          <a:p>
            <a:endParaRPr lang="en-US" dirty="0"/>
          </a:p>
        </p:txBody>
      </p:sp>
      <p:sp>
        <p:nvSpPr>
          <p:cNvPr id="4" name="Rectangle 1">
            <a:extLst>
              <a:ext uri="{FF2B5EF4-FFF2-40B4-BE49-F238E27FC236}">
                <a16:creationId xmlns:a16="http://schemas.microsoft.com/office/drawing/2014/main" id="{E374FB6B-5F9A-6C3C-A957-815BC4BD1A5F}"/>
              </a:ext>
            </a:extLst>
          </p:cNvPr>
          <p:cNvSpPr>
            <a:spLocks noGrp="1" noChangeArrowheads="1"/>
          </p:cNvSpPr>
          <p:nvPr>
            <p:ph type="body" idx="1"/>
          </p:nvPr>
        </p:nvSpPr>
        <p:spPr bwMode="auto">
          <a:xfrm>
            <a:off x="424253" y="902999"/>
            <a:ext cx="11204574"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Collects historical electric vehicle charging and energy consumption data from available datasets.</a:t>
            </a:r>
          </a:p>
          <a:p>
            <a:pPr marR="0" lvl="0" algn="l" defTabSz="914400" rtl="0" eaLnBrk="0" fontAlgn="base" latinLnBrk="0" hangingPunct="0">
              <a:lnSpc>
                <a:spcPct val="100000"/>
              </a:lnSpc>
              <a:spcBef>
                <a:spcPct val="0"/>
              </a:spcBef>
              <a:spcAft>
                <a:spcPct val="0"/>
              </a:spcAft>
              <a:buClrTx/>
              <a:buSzTx/>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Cleans the data by handling missing values, removing noise, and normalizing inputs.</a:t>
            </a:r>
          </a:p>
          <a:p>
            <a:pPr marR="0" lvl="0" algn="l" defTabSz="914400" rtl="0" eaLnBrk="0" fontAlgn="base" latinLnBrk="0" hangingPunct="0">
              <a:lnSpc>
                <a:spcPct val="100000"/>
              </a:lnSpc>
              <a:spcBef>
                <a:spcPct val="0"/>
              </a:spcBef>
              <a:spcAft>
                <a:spcPct val="0"/>
              </a:spcAft>
              <a:buClrTx/>
              <a:buSzTx/>
              <a:tabLst/>
            </a:pPr>
            <a:endPar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Engineering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Selects and transforms relevant features to improve model learning and prediction accuracy.</a:t>
            </a:r>
          </a:p>
          <a:p>
            <a:pPr marR="0" lvl="0" algn="l" defTabSz="914400" rtl="0" eaLnBrk="0" fontAlgn="base" latinLnBrk="0" hangingPunct="0">
              <a:lnSpc>
                <a:spcPct val="100000"/>
              </a:lnSpc>
              <a:spcBef>
                <a:spcPct val="0"/>
              </a:spcBef>
              <a:spcAft>
                <a:spcPct val="0"/>
              </a:spcAft>
              <a:buClrTx/>
              <a:buSzTx/>
              <a:tabLst/>
            </a:pPr>
            <a:endPar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Linear Model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Implements traditional forecasting models such as Multiple Linear Regression and ARIMA for baseline prediction.</a:t>
            </a:r>
          </a:p>
          <a:p>
            <a:pPr marR="0" lvl="0" algn="l" defTabSz="914400" rtl="0" eaLnBrk="0" fontAlgn="base" latinLnBrk="0" hangingPunct="0">
              <a:lnSpc>
                <a:spcPct val="100000"/>
              </a:lnSpc>
              <a:spcBef>
                <a:spcPct val="0"/>
              </a:spcBef>
              <a:spcAft>
                <a:spcPct val="0"/>
              </a:spcAft>
              <a:buClrTx/>
              <a:buSzTx/>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5AD58427-CB5B-8EE9-5D09-2CB6D59C1FBA}"/>
              </a:ext>
            </a:extLst>
          </p:cNvPr>
          <p:cNvSpPr>
            <a:spLocks noChangeArrowheads="1"/>
          </p:cNvSpPr>
          <p:nvPr/>
        </p:nvSpPr>
        <p:spPr bwMode="auto">
          <a:xfrm>
            <a:off x="424253" y="3687097"/>
            <a:ext cx="11264547"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ANN Model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Artificial Neural Networks to capture nonlinear relationships in EV energy consumption patterns.</a:t>
            </a:r>
          </a:p>
          <a:p>
            <a:pPr marR="0" lvl="0" algn="l" defTabSz="914400" rtl="0" eaLnBrk="0" fontAlgn="base" latinLnBrk="0" hangingPunct="0">
              <a:lnSpc>
                <a:spcPct val="100000"/>
              </a:lnSpc>
              <a:spcBef>
                <a:spcPct val="0"/>
              </a:spcBef>
              <a:spcAft>
                <a:spcPct val="0"/>
              </a:spcAft>
              <a:buClrTx/>
              <a:buSzTx/>
              <a:tabLst/>
            </a:pPr>
            <a:endPar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LSTM Model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Applies Long Short-Term Memory networks to model temporal dependencies in EV charging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1CDBE23-46CF-6AEA-7D53-8E72B989088A}"/>
              </a:ext>
            </a:extLst>
          </p:cNvPr>
          <p:cNvSpPr txBox="1"/>
          <p:nvPr/>
        </p:nvSpPr>
        <p:spPr>
          <a:xfrm>
            <a:off x="429657" y="5104150"/>
            <a:ext cx="11204575" cy="1354217"/>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Evaluation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Evaluates model performance using error metrics such as R2-Score, MAE and RMSE.</a:t>
            </a:r>
          </a:p>
          <a:p>
            <a:pPr marR="0" lvl="0" algn="l" defTabSz="914400" rtl="0" eaLnBrk="0" fontAlgn="base" latinLnBrk="0" hangingPunct="0">
              <a:lnSpc>
                <a:spcPct val="100000"/>
              </a:lnSpc>
              <a:spcBef>
                <a:spcPct val="0"/>
              </a:spcBef>
              <a:spcAft>
                <a:spcPct val="0"/>
              </a:spcAft>
              <a:buClrTx/>
              <a:buSzTx/>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 Visualization Module: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prediction results and performance comparisons using graphical visualizations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586653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599" y="533400"/>
            <a:ext cx="10341077" cy="751488"/>
          </a:xfrm>
          <a:prstGeom prst="rect">
            <a:avLst/>
          </a:prstGeom>
        </p:spPr>
        <p:txBody>
          <a:bodyPr vert="horz" wrap="square" lIns="0" tIns="12700" rIns="0" bIns="0" rtlCol="0">
            <a:spAutoFit/>
          </a:bodyPr>
          <a:lstStyle/>
          <a:p>
            <a:r>
              <a:rPr lang="en-IN" dirty="0"/>
              <a:t>SOFTWARE REQUIREMENTS</a:t>
            </a:r>
            <a:br>
              <a:rPr lang="en-IN" dirty="0"/>
            </a:br>
            <a:endParaRPr spc="-10" dirty="0"/>
          </a:p>
        </p:txBody>
      </p:sp>
      <p:graphicFrame>
        <p:nvGraphicFramePr>
          <p:cNvPr id="3" name="Table 2">
            <a:extLst>
              <a:ext uri="{FF2B5EF4-FFF2-40B4-BE49-F238E27FC236}">
                <a16:creationId xmlns:a16="http://schemas.microsoft.com/office/drawing/2014/main" id="{C13AB5E4-0BA9-1CF8-200D-2ACE91ED2947}"/>
              </a:ext>
            </a:extLst>
          </p:cNvPr>
          <p:cNvGraphicFramePr>
            <a:graphicFrameLocks noGrp="1"/>
          </p:cNvGraphicFramePr>
          <p:nvPr>
            <p:extLst>
              <p:ext uri="{D42A27DB-BD31-4B8C-83A1-F6EECF244321}">
                <p14:modId xmlns:p14="http://schemas.microsoft.com/office/powerpoint/2010/main" val="1012362891"/>
              </p:ext>
            </p:extLst>
          </p:nvPr>
        </p:nvGraphicFramePr>
        <p:xfrm>
          <a:off x="990599" y="1135532"/>
          <a:ext cx="7620001" cy="4195936"/>
        </p:xfrm>
        <a:graphic>
          <a:graphicData uri="http://schemas.openxmlformats.org/drawingml/2006/table">
            <a:tbl>
              <a:tblPr firstRow="1" firstCol="1" bandRow="1">
                <a:tableStyleId>{5C22544A-7EE6-4342-B048-85BDC9FD1C3A}</a:tableStyleId>
              </a:tblPr>
              <a:tblGrid>
                <a:gridCol w="2166796">
                  <a:extLst>
                    <a:ext uri="{9D8B030D-6E8A-4147-A177-3AD203B41FA5}">
                      <a16:colId xmlns:a16="http://schemas.microsoft.com/office/drawing/2014/main" val="4113540739"/>
                    </a:ext>
                  </a:extLst>
                </a:gridCol>
                <a:gridCol w="5453205">
                  <a:extLst>
                    <a:ext uri="{9D8B030D-6E8A-4147-A177-3AD203B41FA5}">
                      <a16:colId xmlns:a16="http://schemas.microsoft.com/office/drawing/2014/main" val="3970343170"/>
                    </a:ext>
                  </a:extLst>
                </a:gridCol>
              </a:tblGrid>
              <a:tr h="378468">
                <a:tc>
                  <a:txBody>
                    <a:bodyPr/>
                    <a:lstStyle/>
                    <a:p>
                      <a:pPr>
                        <a:lnSpc>
                          <a:spcPct val="150000"/>
                        </a:lnSpc>
                        <a:buNone/>
                      </a:pPr>
                      <a:r>
                        <a:rPr lang="en-IN" sz="1800">
                          <a:effectLst/>
                        </a:rPr>
                        <a:t>Requirement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tc>
                  <a:txBody>
                    <a:bodyPr/>
                    <a:lstStyle/>
                    <a:p>
                      <a:pPr>
                        <a:lnSpc>
                          <a:spcPct val="150000"/>
                        </a:lnSpc>
                        <a:buNone/>
                      </a:pPr>
                      <a:r>
                        <a:rPr lang="en-IN" sz="1800">
                          <a:effectLst/>
                        </a:rPr>
                        <a:t>Purpose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extLst>
                  <a:ext uri="{0D108BD9-81ED-4DB2-BD59-A6C34878D82A}">
                    <a16:rowId xmlns:a16="http://schemas.microsoft.com/office/drawing/2014/main" val="2905040697"/>
                  </a:ext>
                </a:extLst>
              </a:tr>
              <a:tr h="378468">
                <a:tc>
                  <a:txBody>
                    <a:bodyPr/>
                    <a:lstStyle/>
                    <a:p>
                      <a:pPr>
                        <a:lnSpc>
                          <a:spcPct val="150000"/>
                        </a:lnSpc>
                        <a:buNone/>
                      </a:pPr>
                      <a:r>
                        <a:rPr lang="en-IN" sz="1800">
                          <a:effectLst/>
                        </a:rPr>
                        <a:t>Python 3</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tc>
                  <a:txBody>
                    <a:bodyPr/>
                    <a:lstStyle/>
                    <a:p>
                      <a:pPr>
                        <a:lnSpc>
                          <a:spcPct val="150000"/>
                        </a:lnSpc>
                        <a:buNone/>
                      </a:pPr>
                      <a:r>
                        <a:rPr lang="en-IN" sz="1800">
                          <a:effectLst/>
                        </a:rPr>
                        <a:t>Core programming language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extLst>
                  <a:ext uri="{0D108BD9-81ED-4DB2-BD59-A6C34878D82A}">
                    <a16:rowId xmlns:a16="http://schemas.microsoft.com/office/drawing/2014/main" val="2601727434"/>
                  </a:ext>
                </a:extLst>
              </a:tr>
              <a:tr h="378468">
                <a:tc>
                  <a:txBody>
                    <a:bodyPr/>
                    <a:lstStyle/>
                    <a:p>
                      <a:pPr>
                        <a:lnSpc>
                          <a:spcPct val="150000"/>
                        </a:lnSpc>
                        <a:buNone/>
                      </a:pPr>
                      <a:r>
                        <a:rPr lang="en-IN" sz="1800">
                          <a:effectLst/>
                        </a:rPr>
                        <a:t>Pandas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tc>
                  <a:txBody>
                    <a:bodyPr/>
                    <a:lstStyle/>
                    <a:p>
                      <a:pPr>
                        <a:lnSpc>
                          <a:spcPct val="150000"/>
                        </a:lnSpc>
                        <a:buNone/>
                      </a:pPr>
                      <a:r>
                        <a:rPr lang="en-IN" sz="1800">
                          <a:effectLst/>
                        </a:rPr>
                        <a:t>Data preprocessing and handling</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extLst>
                  <a:ext uri="{0D108BD9-81ED-4DB2-BD59-A6C34878D82A}">
                    <a16:rowId xmlns:a16="http://schemas.microsoft.com/office/drawing/2014/main" val="3851486960"/>
                  </a:ext>
                </a:extLst>
              </a:tr>
              <a:tr h="378468">
                <a:tc>
                  <a:txBody>
                    <a:bodyPr/>
                    <a:lstStyle/>
                    <a:p>
                      <a:pPr>
                        <a:lnSpc>
                          <a:spcPct val="150000"/>
                        </a:lnSpc>
                        <a:buNone/>
                      </a:pPr>
                      <a:r>
                        <a:rPr lang="en-IN" sz="1800">
                          <a:effectLst/>
                        </a:rPr>
                        <a:t>NumPy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tc>
                  <a:txBody>
                    <a:bodyPr/>
                    <a:lstStyle/>
                    <a:p>
                      <a:pPr>
                        <a:lnSpc>
                          <a:spcPct val="150000"/>
                        </a:lnSpc>
                        <a:buNone/>
                      </a:pPr>
                      <a:r>
                        <a:rPr lang="en-IN" sz="1800">
                          <a:effectLst/>
                        </a:rPr>
                        <a:t>Numerical operations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extLst>
                  <a:ext uri="{0D108BD9-81ED-4DB2-BD59-A6C34878D82A}">
                    <a16:rowId xmlns:a16="http://schemas.microsoft.com/office/drawing/2014/main" val="259270851"/>
                  </a:ext>
                </a:extLst>
              </a:tr>
              <a:tr h="378468">
                <a:tc>
                  <a:txBody>
                    <a:bodyPr/>
                    <a:lstStyle/>
                    <a:p>
                      <a:pPr>
                        <a:lnSpc>
                          <a:spcPct val="150000"/>
                        </a:lnSpc>
                        <a:buNone/>
                      </a:pPr>
                      <a:r>
                        <a:rPr lang="en-IN" sz="1800">
                          <a:effectLst/>
                        </a:rPr>
                        <a:t>Scikit-learn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tc>
                  <a:txBody>
                    <a:bodyPr/>
                    <a:lstStyle/>
                    <a:p>
                      <a:pPr>
                        <a:lnSpc>
                          <a:spcPct val="150000"/>
                        </a:lnSpc>
                        <a:buNone/>
                      </a:pPr>
                      <a:r>
                        <a:rPr lang="en-IN" sz="1800">
                          <a:effectLst/>
                        </a:rPr>
                        <a:t>ML models and evaluation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extLst>
                  <a:ext uri="{0D108BD9-81ED-4DB2-BD59-A6C34878D82A}">
                    <a16:rowId xmlns:a16="http://schemas.microsoft.com/office/drawing/2014/main" val="2109957166"/>
                  </a:ext>
                </a:extLst>
              </a:tr>
              <a:tr h="378468">
                <a:tc>
                  <a:txBody>
                    <a:bodyPr/>
                    <a:lstStyle/>
                    <a:p>
                      <a:pPr>
                        <a:lnSpc>
                          <a:spcPct val="150000"/>
                        </a:lnSpc>
                        <a:buNone/>
                      </a:pPr>
                      <a:r>
                        <a:rPr lang="en-IN" sz="1800" dirty="0">
                          <a:effectLst/>
                        </a:rPr>
                        <a:t>TensorFlow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tc>
                  <a:txBody>
                    <a:bodyPr/>
                    <a:lstStyle/>
                    <a:p>
                      <a:pPr>
                        <a:lnSpc>
                          <a:spcPct val="150000"/>
                        </a:lnSpc>
                        <a:buNone/>
                      </a:pPr>
                      <a:r>
                        <a:rPr lang="en-IN" sz="1800">
                          <a:effectLst/>
                        </a:rPr>
                        <a:t>ANN and LSTM model implementation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extLst>
                  <a:ext uri="{0D108BD9-81ED-4DB2-BD59-A6C34878D82A}">
                    <a16:rowId xmlns:a16="http://schemas.microsoft.com/office/drawing/2014/main" val="571539757"/>
                  </a:ext>
                </a:extLst>
              </a:tr>
              <a:tr h="378468">
                <a:tc>
                  <a:txBody>
                    <a:bodyPr/>
                    <a:lstStyle/>
                    <a:p>
                      <a:pPr>
                        <a:lnSpc>
                          <a:spcPct val="150000"/>
                        </a:lnSpc>
                        <a:buNone/>
                      </a:pPr>
                      <a:r>
                        <a:rPr lang="en-IN" sz="1800">
                          <a:effectLst/>
                        </a:rPr>
                        <a:t>Joblib</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tc>
                  <a:txBody>
                    <a:bodyPr/>
                    <a:lstStyle/>
                    <a:p>
                      <a:pPr>
                        <a:lnSpc>
                          <a:spcPct val="150000"/>
                        </a:lnSpc>
                        <a:buNone/>
                      </a:pPr>
                      <a:r>
                        <a:rPr lang="en-IN" sz="1800">
                          <a:effectLst/>
                        </a:rPr>
                        <a:t>Save/load ML models and scalers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extLst>
                  <a:ext uri="{0D108BD9-81ED-4DB2-BD59-A6C34878D82A}">
                    <a16:rowId xmlns:a16="http://schemas.microsoft.com/office/drawing/2014/main" val="2260882143"/>
                  </a:ext>
                </a:extLst>
              </a:tr>
              <a:tr h="378468">
                <a:tc>
                  <a:txBody>
                    <a:bodyPr/>
                    <a:lstStyle/>
                    <a:p>
                      <a:pPr>
                        <a:lnSpc>
                          <a:spcPct val="150000"/>
                        </a:lnSpc>
                        <a:buNone/>
                      </a:pPr>
                      <a:r>
                        <a:rPr lang="en-IN" sz="1800" dirty="0">
                          <a:effectLst/>
                        </a:rPr>
                        <a:t>Streamlit</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tc>
                  <a:txBody>
                    <a:bodyPr/>
                    <a:lstStyle/>
                    <a:p>
                      <a:pPr>
                        <a:lnSpc>
                          <a:spcPct val="150000"/>
                        </a:lnSpc>
                        <a:buNone/>
                      </a:pPr>
                      <a:r>
                        <a:rPr lang="en-IN" sz="1800" dirty="0">
                          <a:effectLst/>
                        </a:rPr>
                        <a:t>Web interface for prediction</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extLst>
                  <a:ext uri="{0D108BD9-81ED-4DB2-BD59-A6C34878D82A}">
                    <a16:rowId xmlns:a16="http://schemas.microsoft.com/office/drawing/2014/main" val="352061618"/>
                  </a:ext>
                </a:extLst>
              </a:tr>
              <a:tr h="378468">
                <a:tc>
                  <a:txBody>
                    <a:bodyPr/>
                    <a:lstStyle/>
                    <a:p>
                      <a:pPr>
                        <a:lnSpc>
                          <a:spcPct val="150000"/>
                        </a:lnSpc>
                        <a:buNone/>
                      </a:pPr>
                      <a:r>
                        <a:rPr lang="en-IN" sz="1800">
                          <a:effectLst/>
                        </a:rPr>
                        <a:t>Plotly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tc>
                  <a:txBody>
                    <a:bodyPr/>
                    <a:lstStyle/>
                    <a:p>
                      <a:pPr>
                        <a:lnSpc>
                          <a:spcPct val="150000"/>
                        </a:lnSpc>
                        <a:buNone/>
                      </a:pPr>
                      <a:r>
                        <a:rPr lang="en-IN" sz="1800">
                          <a:effectLst/>
                        </a:rPr>
                        <a:t>Visualization of graphs and charts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extLst>
                  <a:ext uri="{0D108BD9-81ED-4DB2-BD59-A6C34878D82A}">
                    <a16:rowId xmlns:a16="http://schemas.microsoft.com/office/drawing/2014/main" val="2472485640"/>
                  </a:ext>
                </a:extLst>
              </a:tr>
              <a:tr h="411256">
                <a:tc>
                  <a:txBody>
                    <a:bodyPr/>
                    <a:lstStyle/>
                    <a:p>
                      <a:pPr>
                        <a:lnSpc>
                          <a:spcPct val="150000"/>
                        </a:lnSpc>
                        <a:buNone/>
                      </a:pPr>
                      <a:r>
                        <a:rPr lang="en-IN" sz="1800" dirty="0">
                          <a:effectLst/>
                        </a:rPr>
                        <a:t>JSON</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tc>
                  <a:txBody>
                    <a:bodyPr/>
                    <a:lstStyle/>
                    <a:p>
                      <a:pPr>
                        <a:lnSpc>
                          <a:spcPct val="150000"/>
                        </a:lnSpc>
                        <a:buNone/>
                      </a:pPr>
                      <a:r>
                        <a:rPr lang="en-IN" sz="1800" dirty="0">
                          <a:effectLst/>
                        </a:rPr>
                        <a:t>Store best model configuration (model selection)</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extLst>
                  <a:ext uri="{0D108BD9-81ED-4DB2-BD59-A6C34878D82A}">
                    <a16:rowId xmlns:a16="http://schemas.microsoft.com/office/drawing/2014/main" val="4144305198"/>
                  </a:ext>
                </a:extLst>
              </a:tr>
              <a:tr h="378468">
                <a:tc>
                  <a:txBody>
                    <a:bodyPr/>
                    <a:lstStyle/>
                    <a:p>
                      <a:pPr>
                        <a:lnSpc>
                          <a:spcPct val="150000"/>
                        </a:lnSpc>
                        <a:buNone/>
                      </a:pPr>
                      <a:r>
                        <a:rPr lang="en-IN" sz="1800" dirty="0">
                          <a:effectLst/>
                        </a:rPr>
                        <a:t>OS Libraries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tc>
                  <a:txBody>
                    <a:bodyPr/>
                    <a:lstStyle/>
                    <a:p>
                      <a:pPr>
                        <a:lnSpc>
                          <a:spcPct val="150000"/>
                        </a:lnSpc>
                        <a:buNone/>
                      </a:pPr>
                      <a:r>
                        <a:rPr lang="en-IN" sz="1800" dirty="0">
                          <a:effectLst/>
                        </a:rPr>
                        <a:t>File and directory handling</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5223" marR="65223" marT="0" marB="0"/>
                </a:tc>
                <a:extLst>
                  <a:ext uri="{0D108BD9-81ED-4DB2-BD59-A6C34878D82A}">
                    <a16:rowId xmlns:a16="http://schemas.microsoft.com/office/drawing/2014/main" val="202377428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87E94-7F96-60AD-B88D-34E80C5CA922}"/>
              </a:ext>
            </a:extLst>
          </p:cNvPr>
          <p:cNvSpPr>
            <a:spLocks noGrp="1"/>
          </p:cNvSpPr>
          <p:nvPr>
            <p:ph type="title"/>
          </p:nvPr>
        </p:nvSpPr>
        <p:spPr>
          <a:xfrm>
            <a:off x="838200" y="267843"/>
            <a:ext cx="10850498" cy="738664"/>
          </a:xfrm>
        </p:spPr>
        <p:txBody>
          <a:bodyPr/>
          <a:lstStyle/>
          <a:p>
            <a:br>
              <a:rPr lang="en-IN" dirty="0"/>
            </a:br>
            <a:r>
              <a:rPr lang="en-IN" dirty="0"/>
              <a:t>HARDWARE REQUIREMENTS:</a:t>
            </a:r>
          </a:p>
        </p:txBody>
      </p:sp>
      <p:graphicFrame>
        <p:nvGraphicFramePr>
          <p:cNvPr id="3" name="Table 2">
            <a:extLst>
              <a:ext uri="{FF2B5EF4-FFF2-40B4-BE49-F238E27FC236}">
                <a16:creationId xmlns:a16="http://schemas.microsoft.com/office/drawing/2014/main" id="{6B6B44B6-FB6A-B922-4316-1E8F361904E5}"/>
              </a:ext>
            </a:extLst>
          </p:cNvPr>
          <p:cNvGraphicFramePr>
            <a:graphicFrameLocks noGrp="1"/>
          </p:cNvGraphicFramePr>
          <p:nvPr>
            <p:extLst>
              <p:ext uri="{D42A27DB-BD31-4B8C-83A1-F6EECF244321}">
                <p14:modId xmlns:p14="http://schemas.microsoft.com/office/powerpoint/2010/main" val="2254424140"/>
              </p:ext>
            </p:extLst>
          </p:nvPr>
        </p:nvGraphicFramePr>
        <p:xfrm>
          <a:off x="838200" y="1295400"/>
          <a:ext cx="9982200" cy="2869011"/>
        </p:xfrm>
        <a:graphic>
          <a:graphicData uri="http://schemas.openxmlformats.org/drawingml/2006/table">
            <a:tbl>
              <a:tblPr firstRow="1" firstCol="1" bandRow="1">
                <a:tableStyleId>{5C22544A-7EE6-4342-B048-85BDC9FD1C3A}</a:tableStyleId>
              </a:tblPr>
              <a:tblGrid>
                <a:gridCol w="4991100">
                  <a:extLst>
                    <a:ext uri="{9D8B030D-6E8A-4147-A177-3AD203B41FA5}">
                      <a16:colId xmlns:a16="http://schemas.microsoft.com/office/drawing/2014/main" val="651429685"/>
                    </a:ext>
                  </a:extLst>
                </a:gridCol>
                <a:gridCol w="4991100">
                  <a:extLst>
                    <a:ext uri="{9D8B030D-6E8A-4147-A177-3AD203B41FA5}">
                      <a16:colId xmlns:a16="http://schemas.microsoft.com/office/drawing/2014/main" val="4224765662"/>
                    </a:ext>
                  </a:extLst>
                </a:gridCol>
              </a:tblGrid>
              <a:tr h="522514">
                <a:tc>
                  <a:txBody>
                    <a:bodyPr/>
                    <a:lstStyle/>
                    <a:p>
                      <a:pPr>
                        <a:lnSpc>
                          <a:spcPct val="150000"/>
                        </a:lnSpc>
                        <a:buNone/>
                      </a:pPr>
                      <a:r>
                        <a:rPr lang="en-IN" sz="1800">
                          <a:effectLst/>
                        </a:rPr>
                        <a:t>Requirement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50000"/>
                        </a:lnSpc>
                        <a:buNone/>
                      </a:pPr>
                      <a:r>
                        <a:rPr lang="en-IN" sz="1800">
                          <a:effectLst/>
                        </a:rPr>
                        <a:t>Purpose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47730711"/>
                  </a:ext>
                </a:extLst>
              </a:tr>
              <a:tr h="522514">
                <a:tc>
                  <a:txBody>
                    <a:bodyPr/>
                    <a:lstStyle/>
                    <a:p>
                      <a:pPr>
                        <a:lnSpc>
                          <a:spcPct val="150000"/>
                        </a:lnSpc>
                        <a:buNone/>
                      </a:pPr>
                      <a:r>
                        <a:rPr lang="en-IN" sz="1800">
                          <a:effectLst/>
                        </a:rPr>
                        <a:t>RAM (4GB minimum)</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lvl="0" indent="0" defTabSz="914400" eaLnBrk="1" fontAlgn="auto" latinLnBrk="0" hangingPunct="1">
                        <a:lnSpc>
                          <a:spcPct val="150000"/>
                        </a:lnSpc>
                        <a:spcBef>
                          <a:spcPts val="0"/>
                        </a:spcBef>
                        <a:spcAft>
                          <a:spcPts val="0"/>
                        </a:spcAft>
                        <a:buClrTx/>
                        <a:buSzTx/>
                        <a:buFontTx/>
                        <a:buNone/>
                        <a:tabLst/>
                        <a:defRPr/>
                      </a:pPr>
                      <a:r>
                        <a:rPr lang="en-IN" sz="1800" dirty="0">
                          <a:effectLst/>
                        </a:rPr>
                        <a:t>Handle dataset and model processing, Store datasets and models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12894154"/>
                  </a:ext>
                </a:extLst>
              </a:tr>
              <a:tr h="522514">
                <a:tc>
                  <a:txBody>
                    <a:bodyPr/>
                    <a:lstStyle/>
                    <a:p>
                      <a:pPr>
                        <a:lnSpc>
                          <a:spcPct val="150000"/>
                        </a:lnSpc>
                        <a:buNone/>
                      </a:pPr>
                      <a:r>
                        <a:rPr lang="en-IN" sz="1800">
                          <a:effectLst/>
                        </a:rPr>
                        <a:t>GPU (Optional)</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50000"/>
                        </a:lnSpc>
                        <a:buNone/>
                      </a:pPr>
                      <a:r>
                        <a:rPr lang="en-IN" sz="1800" dirty="0">
                          <a:effectLst/>
                        </a:rPr>
                        <a:t>Faster training for deep learning</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05424378"/>
                  </a:ext>
                </a:extLst>
              </a:tr>
              <a:tr h="522514">
                <a:tc>
                  <a:txBody>
                    <a:bodyPr/>
                    <a:lstStyle/>
                    <a:p>
                      <a:pPr>
                        <a:lnSpc>
                          <a:spcPct val="150000"/>
                        </a:lnSpc>
                        <a:buNone/>
                      </a:pPr>
                      <a:r>
                        <a:rPr lang="en-IN" sz="1800" dirty="0">
                          <a:effectLst/>
                        </a:rPr>
                        <a:t>System (Windows/Linux/Mac)</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50000"/>
                        </a:lnSpc>
                        <a:buNone/>
                      </a:pPr>
                      <a:r>
                        <a:rPr lang="en-IN" sz="1800">
                          <a:effectLst/>
                        </a:rPr>
                        <a:t>Run the application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04372744"/>
                  </a:ext>
                </a:extLst>
              </a:tr>
              <a:tr h="522514">
                <a:tc>
                  <a:txBody>
                    <a:bodyPr/>
                    <a:lstStyle/>
                    <a:p>
                      <a:pPr>
                        <a:lnSpc>
                          <a:spcPct val="150000"/>
                        </a:lnSpc>
                        <a:buNone/>
                      </a:pPr>
                      <a:r>
                        <a:rPr lang="en-IN" sz="1800">
                          <a:effectLst/>
                        </a:rPr>
                        <a:t>Browser</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50000"/>
                        </a:lnSpc>
                        <a:buNone/>
                      </a:pPr>
                      <a:r>
                        <a:rPr lang="en-IN" sz="1800" dirty="0">
                          <a:effectLst/>
                        </a:rPr>
                        <a:t>Access Streamlit UI</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73988941"/>
                  </a:ext>
                </a:extLst>
              </a:tr>
            </a:tbl>
          </a:graphicData>
        </a:graphic>
      </p:graphicFrame>
    </p:spTree>
    <p:extLst>
      <p:ext uri="{BB962C8B-B14F-4D97-AF65-F5344CB8AC3E}">
        <p14:creationId xmlns:p14="http://schemas.microsoft.com/office/powerpoint/2010/main" val="3434713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FB064-8A68-3E47-CAD2-5E5911F12629}"/>
              </a:ext>
            </a:extLst>
          </p:cNvPr>
          <p:cNvSpPr>
            <a:spLocks noGrp="1"/>
          </p:cNvSpPr>
          <p:nvPr>
            <p:ph type="title"/>
          </p:nvPr>
        </p:nvSpPr>
        <p:spPr>
          <a:xfrm>
            <a:off x="838200" y="609600"/>
            <a:ext cx="10872621" cy="369332"/>
          </a:xfrm>
        </p:spPr>
        <p:txBody>
          <a:bodyPr/>
          <a:lstStyle/>
          <a:p>
            <a:r>
              <a:rPr lang="en-IN" dirty="0"/>
              <a:t>FUNCTIONAL REQUIREMENTS:</a:t>
            </a:r>
          </a:p>
        </p:txBody>
      </p:sp>
      <p:graphicFrame>
        <p:nvGraphicFramePr>
          <p:cNvPr id="3" name="Table 2">
            <a:extLst>
              <a:ext uri="{FF2B5EF4-FFF2-40B4-BE49-F238E27FC236}">
                <a16:creationId xmlns:a16="http://schemas.microsoft.com/office/drawing/2014/main" id="{6F009A46-FBC8-E15D-6B29-92DC277D658E}"/>
              </a:ext>
            </a:extLst>
          </p:cNvPr>
          <p:cNvGraphicFramePr>
            <a:graphicFrameLocks noGrp="1"/>
          </p:cNvGraphicFramePr>
          <p:nvPr>
            <p:extLst>
              <p:ext uri="{D42A27DB-BD31-4B8C-83A1-F6EECF244321}">
                <p14:modId xmlns:p14="http://schemas.microsoft.com/office/powerpoint/2010/main" val="1585376570"/>
              </p:ext>
            </p:extLst>
          </p:nvPr>
        </p:nvGraphicFramePr>
        <p:xfrm>
          <a:off x="838200" y="1219200"/>
          <a:ext cx="8458200" cy="4114800"/>
        </p:xfrm>
        <a:graphic>
          <a:graphicData uri="http://schemas.openxmlformats.org/drawingml/2006/table">
            <a:tbl>
              <a:tblPr firstRow="1" firstCol="1" bandRow="1">
                <a:tableStyleId>{5C22544A-7EE6-4342-B048-85BDC9FD1C3A}</a:tableStyleId>
              </a:tblPr>
              <a:tblGrid>
                <a:gridCol w="2147082">
                  <a:extLst>
                    <a:ext uri="{9D8B030D-6E8A-4147-A177-3AD203B41FA5}">
                      <a16:colId xmlns:a16="http://schemas.microsoft.com/office/drawing/2014/main" val="2785614779"/>
                    </a:ext>
                  </a:extLst>
                </a:gridCol>
                <a:gridCol w="6311118">
                  <a:extLst>
                    <a:ext uri="{9D8B030D-6E8A-4147-A177-3AD203B41FA5}">
                      <a16:colId xmlns:a16="http://schemas.microsoft.com/office/drawing/2014/main" val="4250759160"/>
                    </a:ext>
                  </a:extLst>
                </a:gridCol>
              </a:tblGrid>
              <a:tr h="457200">
                <a:tc>
                  <a:txBody>
                    <a:bodyPr/>
                    <a:lstStyle/>
                    <a:p>
                      <a:pPr>
                        <a:lnSpc>
                          <a:spcPct val="107000"/>
                        </a:lnSpc>
                        <a:spcAft>
                          <a:spcPts val="800"/>
                        </a:spcAft>
                        <a:buNone/>
                      </a:pPr>
                      <a:r>
                        <a:rPr lang="en-IN" sz="1800">
                          <a:effectLst/>
                        </a:rPr>
                        <a:t>Requirement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Purpose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901921945"/>
                  </a:ext>
                </a:extLst>
              </a:tr>
              <a:tr h="457200">
                <a:tc>
                  <a:txBody>
                    <a:bodyPr/>
                    <a:lstStyle/>
                    <a:p>
                      <a:pPr>
                        <a:lnSpc>
                          <a:spcPct val="107000"/>
                        </a:lnSpc>
                        <a:spcAft>
                          <a:spcPts val="800"/>
                        </a:spcAft>
                        <a:buNone/>
                      </a:pPr>
                      <a:r>
                        <a:rPr lang="en-IN" sz="1800">
                          <a:effectLst/>
                        </a:rPr>
                        <a:t>Load Dataset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Read EV charging data from CSV files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36831386"/>
                  </a:ext>
                </a:extLst>
              </a:tr>
              <a:tr h="457200">
                <a:tc>
                  <a:txBody>
                    <a:bodyPr/>
                    <a:lstStyle/>
                    <a:p>
                      <a:pPr>
                        <a:lnSpc>
                          <a:spcPct val="107000"/>
                        </a:lnSpc>
                        <a:spcAft>
                          <a:spcPts val="800"/>
                        </a:spcAft>
                        <a:buNone/>
                      </a:pPr>
                      <a:r>
                        <a:rPr lang="en-IN" sz="1800">
                          <a:effectLst/>
                        </a:rPr>
                        <a:t>Preprocess Data</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Clean, encode, and scale data for model training</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00758802"/>
                  </a:ext>
                </a:extLst>
              </a:tr>
              <a:tr h="457200">
                <a:tc>
                  <a:txBody>
                    <a:bodyPr/>
                    <a:lstStyle/>
                    <a:p>
                      <a:pPr>
                        <a:lnSpc>
                          <a:spcPct val="107000"/>
                        </a:lnSpc>
                        <a:spcAft>
                          <a:spcPts val="800"/>
                        </a:spcAft>
                        <a:buNone/>
                      </a:pPr>
                      <a:r>
                        <a:rPr lang="en-IN" sz="1800">
                          <a:effectLst/>
                        </a:rPr>
                        <a:t>Train Models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dirty="0">
                          <a:effectLst/>
                        </a:rPr>
                        <a:t>Train Linear Regression, ANN, and LSTM models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16646830"/>
                  </a:ext>
                </a:extLst>
              </a:tr>
              <a:tr h="457200">
                <a:tc>
                  <a:txBody>
                    <a:bodyPr/>
                    <a:lstStyle/>
                    <a:p>
                      <a:pPr>
                        <a:lnSpc>
                          <a:spcPct val="107000"/>
                        </a:lnSpc>
                        <a:spcAft>
                          <a:spcPts val="800"/>
                        </a:spcAft>
                        <a:buNone/>
                      </a:pPr>
                      <a:r>
                        <a:rPr lang="en-IN" sz="1800" dirty="0">
                          <a:effectLst/>
                        </a:rPr>
                        <a:t>Evaluate Models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Compare models using RMSE, MAE, and R² score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52179698"/>
                  </a:ext>
                </a:extLst>
              </a:tr>
              <a:tr h="457200">
                <a:tc>
                  <a:txBody>
                    <a:bodyPr/>
                    <a:lstStyle/>
                    <a:p>
                      <a:pPr>
                        <a:lnSpc>
                          <a:spcPct val="107000"/>
                        </a:lnSpc>
                        <a:spcAft>
                          <a:spcPts val="800"/>
                        </a:spcAft>
                        <a:buNone/>
                      </a:pPr>
                      <a:r>
                        <a:rPr lang="en-IN" sz="1800">
                          <a:effectLst/>
                        </a:rPr>
                        <a:t>Select Best Model</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Automatically choose the best performing model</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50832784"/>
                  </a:ext>
                </a:extLst>
              </a:tr>
              <a:tr h="457200">
                <a:tc>
                  <a:txBody>
                    <a:bodyPr/>
                    <a:lstStyle/>
                    <a:p>
                      <a:pPr>
                        <a:lnSpc>
                          <a:spcPct val="107000"/>
                        </a:lnSpc>
                        <a:spcAft>
                          <a:spcPts val="800"/>
                        </a:spcAft>
                        <a:buNone/>
                      </a:pPr>
                      <a:r>
                        <a:rPr lang="en-IN" sz="1800">
                          <a:effectLst/>
                        </a:rPr>
                        <a:t>Save &amp; Load Models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Store and retrieve trained models for reuse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83400264"/>
                  </a:ext>
                </a:extLst>
              </a:tr>
              <a:tr h="457200">
                <a:tc>
                  <a:txBody>
                    <a:bodyPr/>
                    <a:lstStyle/>
                    <a:p>
                      <a:pPr>
                        <a:lnSpc>
                          <a:spcPct val="107000"/>
                        </a:lnSpc>
                        <a:spcAft>
                          <a:spcPts val="800"/>
                        </a:spcAft>
                        <a:buNone/>
                      </a:pPr>
                      <a:r>
                        <a:rPr lang="en-IN" sz="1800">
                          <a:effectLst/>
                        </a:rPr>
                        <a:t>Real-Time Prediction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Predict EV demand based on user input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72045887"/>
                  </a:ext>
                </a:extLst>
              </a:tr>
              <a:tr h="457200">
                <a:tc>
                  <a:txBody>
                    <a:bodyPr/>
                    <a:lstStyle/>
                    <a:p>
                      <a:pPr>
                        <a:lnSpc>
                          <a:spcPct val="107000"/>
                        </a:lnSpc>
                        <a:spcAft>
                          <a:spcPts val="800"/>
                        </a:spcAft>
                        <a:buNone/>
                      </a:pPr>
                      <a:r>
                        <a:rPr lang="en-IN" sz="1800">
                          <a:effectLst/>
                        </a:rPr>
                        <a:t>Visualization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dirty="0">
                          <a:effectLst/>
                        </a:rPr>
                        <a:t>Display graphs and results in dashboard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11945946"/>
                  </a:ext>
                </a:extLst>
              </a:tr>
            </a:tbl>
          </a:graphicData>
        </a:graphic>
      </p:graphicFrame>
    </p:spTree>
    <p:extLst>
      <p:ext uri="{BB962C8B-B14F-4D97-AF65-F5344CB8AC3E}">
        <p14:creationId xmlns:p14="http://schemas.microsoft.com/office/powerpoint/2010/main" val="984996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84147-9151-F305-EF66-E2FEBF7D34F6}"/>
              </a:ext>
            </a:extLst>
          </p:cNvPr>
          <p:cNvSpPr>
            <a:spLocks noGrp="1"/>
          </p:cNvSpPr>
          <p:nvPr>
            <p:ph type="title"/>
          </p:nvPr>
        </p:nvSpPr>
        <p:spPr>
          <a:xfrm>
            <a:off x="990600" y="685800"/>
            <a:ext cx="10698098" cy="369332"/>
          </a:xfrm>
        </p:spPr>
        <p:txBody>
          <a:bodyPr/>
          <a:lstStyle/>
          <a:p>
            <a:r>
              <a:rPr lang="en-IN" dirty="0"/>
              <a:t>NON FUNCTIONAL REQUIREMENTS:</a:t>
            </a:r>
          </a:p>
        </p:txBody>
      </p:sp>
      <p:graphicFrame>
        <p:nvGraphicFramePr>
          <p:cNvPr id="3" name="Table 2">
            <a:extLst>
              <a:ext uri="{FF2B5EF4-FFF2-40B4-BE49-F238E27FC236}">
                <a16:creationId xmlns:a16="http://schemas.microsoft.com/office/drawing/2014/main" id="{8A979ED8-A620-7C4A-C3E8-802251D6C6BB}"/>
              </a:ext>
            </a:extLst>
          </p:cNvPr>
          <p:cNvGraphicFramePr>
            <a:graphicFrameLocks noGrp="1"/>
          </p:cNvGraphicFramePr>
          <p:nvPr>
            <p:extLst>
              <p:ext uri="{D42A27DB-BD31-4B8C-83A1-F6EECF244321}">
                <p14:modId xmlns:p14="http://schemas.microsoft.com/office/powerpoint/2010/main" val="166732866"/>
              </p:ext>
            </p:extLst>
          </p:nvPr>
        </p:nvGraphicFramePr>
        <p:xfrm>
          <a:off x="990600" y="1524000"/>
          <a:ext cx="7304088" cy="3658907"/>
        </p:xfrm>
        <a:graphic>
          <a:graphicData uri="http://schemas.openxmlformats.org/drawingml/2006/table">
            <a:tbl>
              <a:tblPr firstRow="1" firstCol="1" bandRow="1">
                <a:tableStyleId>{5C22544A-7EE6-4342-B048-85BDC9FD1C3A}</a:tableStyleId>
              </a:tblPr>
              <a:tblGrid>
                <a:gridCol w="2209800">
                  <a:extLst>
                    <a:ext uri="{9D8B030D-6E8A-4147-A177-3AD203B41FA5}">
                      <a16:colId xmlns:a16="http://schemas.microsoft.com/office/drawing/2014/main" val="1681806031"/>
                    </a:ext>
                  </a:extLst>
                </a:gridCol>
                <a:gridCol w="5094288">
                  <a:extLst>
                    <a:ext uri="{9D8B030D-6E8A-4147-A177-3AD203B41FA5}">
                      <a16:colId xmlns:a16="http://schemas.microsoft.com/office/drawing/2014/main" val="3037922414"/>
                    </a:ext>
                  </a:extLst>
                </a:gridCol>
              </a:tblGrid>
              <a:tr h="522701">
                <a:tc>
                  <a:txBody>
                    <a:bodyPr/>
                    <a:lstStyle/>
                    <a:p>
                      <a:pPr>
                        <a:lnSpc>
                          <a:spcPct val="107000"/>
                        </a:lnSpc>
                        <a:spcAft>
                          <a:spcPts val="800"/>
                        </a:spcAft>
                        <a:buNone/>
                      </a:pPr>
                      <a:r>
                        <a:rPr lang="en-IN" sz="1800">
                          <a:effectLst/>
                        </a:rPr>
                        <a:t>Requirement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Purpose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70434458"/>
                  </a:ext>
                </a:extLst>
              </a:tr>
              <a:tr h="522701">
                <a:tc>
                  <a:txBody>
                    <a:bodyPr/>
                    <a:lstStyle/>
                    <a:p>
                      <a:pPr>
                        <a:lnSpc>
                          <a:spcPct val="107000"/>
                        </a:lnSpc>
                        <a:spcAft>
                          <a:spcPts val="800"/>
                        </a:spcAft>
                        <a:buNone/>
                      </a:pPr>
                      <a:r>
                        <a:rPr lang="en-IN" sz="1800">
                          <a:effectLst/>
                        </a:rPr>
                        <a:t>Accuracy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Ensure reliable prediction results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80155224"/>
                  </a:ext>
                </a:extLst>
              </a:tr>
              <a:tr h="522701">
                <a:tc>
                  <a:txBody>
                    <a:bodyPr/>
                    <a:lstStyle/>
                    <a:p>
                      <a:pPr>
                        <a:lnSpc>
                          <a:spcPct val="107000"/>
                        </a:lnSpc>
                        <a:spcAft>
                          <a:spcPts val="800"/>
                        </a:spcAft>
                        <a:buNone/>
                      </a:pPr>
                      <a:r>
                        <a:rPr lang="en-IN" sz="1800">
                          <a:effectLst/>
                        </a:rPr>
                        <a:t>Performance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Fast training and prediction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19083240"/>
                  </a:ext>
                </a:extLst>
              </a:tr>
              <a:tr h="522701">
                <a:tc>
                  <a:txBody>
                    <a:bodyPr/>
                    <a:lstStyle/>
                    <a:p>
                      <a:pPr>
                        <a:lnSpc>
                          <a:spcPct val="107000"/>
                        </a:lnSpc>
                        <a:spcAft>
                          <a:spcPts val="800"/>
                        </a:spcAft>
                        <a:buNone/>
                      </a:pPr>
                      <a:r>
                        <a:rPr lang="en-IN" sz="1800">
                          <a:effectLst/>
                        </a:rPr>
                        <a:t>Usability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dirty="0">
                          <a:effectLst/>
                        </a:rPr>
                        <a:t>Easy-to-use Streamlit interface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50048769"/>
                  </a:ext>
                </a:extLst>
              </a:tr>
              <a:tr h="522701">
                <a:tc>
                  <a:txBody>
                    <a:bodyPr/>
                    <a:lstStyle/>
                    <a:p>
                      <a:pPr>
                        <a:lnSpc>
                          <a:spcPct val="107000"/>
                        </a:lnSpc>
                        <a:spcAft>
                          <a:spcPts val="800"/>
                        </a:spcAft>
                        <a:buNone/>
                      </a:pPr>
                      <a:r>
                        <a:rPr lang="en-IN" sz="1800">
                          <a:effectLst/>
                        </a:rPr>
                        <a:t>Scalability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Handle larger datasets in future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55717980"/>
                  </a:ext>
                </a:extLst>
              </a:tr>
              <a:tr h="522701">
                <a:tc>
                  <a:txBody>
                    <a:bodyPr/>
                    <a:lstStyle/>
                    <a:p>
                      <a:pPr>
                        <a:lnSpc>
                          <a:spcPct val="107000"/>
                        </a:lnSpc>
                        <a:spcAft>
                          <a:spcPts val="800"/>
                        </a:spcAft>
                        <a:buNone/>
                      </a:pPr>
                      <a:r>
                        <a:rPr lang="en-IN" sz="1800">
                          <a:effectLst/>
                        </a:rPr>
                        <a:t>Maintainability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a:effectLst/>
                        </a:rPr>
                        <a:t>Modular and readable code structure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97947907"/>
                  </a:ext>
                </a:extLst>
              </a:tr>
              <a:tr h="522701">
                <a:tc>
                  <a:txBody>
                    <a:bodyPr/>
                    <a:lstStyle/>
                    <a:p>
                      <a:pPr>
                        <a:lnSpc>
                          <a:spcPct val="107000"/>
                        </a:lnSpc>
                        <a:spcAft>
                          <a:spcPts val="800"/>
                        </a:spcAft>
                        <a:buNone/>
                      </a:pPr>
                      <a:r>
                        <a:rPr lang="en-IN" sz="1800">
                          <a:effectLst/>
                        </a:rPr>
                        <a:t>Reliability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800" dirty="0">
                          <a:effectLst/>
                        </a:rPr>
                        <a:t>System should work without failure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97359130"/>
                  </a:ext>
                </a:extLst>
              </a:tr>
            </a:tbl>
          </a:graphicData>
        </a:graphic>
      </p:graphicFrame>
    </p:spTree>
    <p:extLst>
      <p:ext uri="{BB962C8B-B14F-4D97-AF65-F5344CB8AC3E}">
        <p14:creationId xmlns:p14="http://schemas.microsoft.com/office/powerpoint/2010/main" val="2581282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C0C5B-C4A8-9BE3-547E-C0A0A3EFF0A3}"/>
              </a:ext>
            </a:extLst>
          </p:cNvPr>
          <p:cNvSpPr>
            <a:spLocks noGrp="1"/>
          </p:cNvSpPr>
          <p:nvPr>
            <p:ph type="title"/>
          </p:nvPr>
        </p:nvSpPr>
        <p:spPr>
          <a:xfrm>
            <a:off x="484123" y="267843"/>
            <a:ext cx="11204575" cy="369332"/>
          </a:xfrm>
        </p:spPr>
        <p:txBody>
          <a:bodyPr/>
          <a:lstStyle/>
          <a:p>
            <a:r>
              <a:rPr lang="en-IN" dirty="0"/>
              <a:t>CLASS DIAGRAM:</a:t>
            </a:r>
          </a:p>
        </p:txBody>
      </p:sp>
      <p:pic>
        <p:nvPicPr>
          <p:cNvPr id="3" name="Picture 2">
            <a:extLst>
              <a:ext uri="{FF2B5EF4-FFF2-40B4-BE49-F238E27FC236}">
                <a16:creationId xmlns:a16="http://schemas.microsoft.com/office/drawing/2014/main" id="{DE2F6B92-8F89-39E0-CAEA-F3FBFBC0094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752790"/>
            <a:ext cx="6400800" cy="5837367"/>
          </a:xfrm>
          <a:prstGeom prst="rect">
            <a:avLst/>
          </a:prstGeom>
          <a:noFill/>
          <a:ln>
            <a:noFill/>
          </a:ln>
        </p:spPr>
      </p:pic>
      <p:sp>
        <p:nvSpPr>
          <p:cNvPr id="5" name="TextBox 4">
            <a:extLst>
              <a:ext uri="{FF2B5EF4-FFF2-40B4-BE49-F238E27FC236}">
                <a16:creationId xmlns:a16="http://schemas.microsoft.com/office/drawing/2014/main" id="{7CDCC5AA-001E-948E-64BF-F79B61B0CBD7}"/>
              </a:ext>
            </a:extLst>
          </p:cNvPr>
          <p:cNvSpPr txBox="1"/>
          <p:nvPr/>
        </p:nvSpPr>
        <p:spPr>
          <a:xfrm>
            <a:off x="7207646" y="1219200"/>
            <a:ext cx="4298554" cy="4716676"/>
          </a:xfrm>
          <a:prstGeom prst="rect">
            <a:avLst/>
          </a:prstGeom>
          <a:noFill/>
        </p:spPr>
        <p:txBody>
          <a:bodyPr wrap="square">
            <a:spAutoFit/>
          </a:bodyPr>
          <a:lstStyle/>
          <a:p>
            <a:pPr>
              <a:lnSpc>
                <a:spcPct val="150000"/>
              </a:lnSpc>
              <a:spcAft>
                <a:spcPts val="800"/>
              </a:spcAft>
              <a:buNone/>
            </a:pPr>
            <a:r>
              <a:rPr lang="en-US" sz="2000" b="1" dirty="0">
                <a:effectLst/>
                <a:latin typeface="Times New Roman" panose="02020603050405020304" pitchFamily="18" charset="0"/>
                <a:ea typeface="Times New Roman" panose="02020603050405020304" pitchFamily="18" charset="0"/>
              </a:rPr>
              <a:t>Class Diagram for EV Energy</a:t>
            </a:r>
            <a:r>
              <a:rPr lang="en-US" sz="2000" b="1" dirty="0">
                <a:latin typeface="Times New Roman" panose="02020603050405020304" pitchFamily="18" charset="0"/>
                <a:ea typeface="Times New Roman" panose="02020603050405020304" pitchFamily="18" charset="0"/>
              </a:rPr>
              <a:t> </a:t>
            </a:r>
          </a:p>
          <a:p>
            <a:pPr>
              <a:lnSpc>
                <a:spcPct val="150000"/>
              </a:lnSpc>
              <a:spcAft>
                <a:spcPts val="800"/>
              </a:spcAft>
              <a:buNone/>
            </a:pPr>
            <a:r>
              <a:rPr lang="en-US" sz="2000" b="1" dirty="0">
                <a:effectLst/>
                <a:latin typeface="Times New Roman" panose="02020603050405020304" pitchFamily="18" charset="0"/>
                <a:ea typeface="Times New Roman" panose="02020603050405020304" pitchFamily="18" charset="0"/>
              </a:rPr>
              <a:t>Demand prediction system</a:t>
            </a:r>
          </a:p>
          <a:p>
            <a:pPr algn="just">
              <a:lnSpc>
                <a:spcPct val="150000"/>
              </a:lnSpc>
              <a:spcAft>
                <a:spcPts val="800"/>
              </a:spcAft>
              <a:buNone/>
            </a:pPr>
            <a:br>
              <a:rPr lang="en-US" sz="4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	This diagram shows the structure of the EV Demand Prediction System, including modules like data preprocessing, model training (Linear, ANN, LSTM), evaluation, and prediction. It explains how these components work together to generate accurate demand forecasts.</a:t>
            </a:r>
            <a:endParaRPr lang="en-IN" sz="1600" dirty="0">
              <a:effectLst/>
              <a:latin typeface="Times New Roman" panose="02020603050405020304" pitchFamily="18" charset="0"/>
              <a:ea typeface="Times New Roman" panose="02020603050405020304" pitchFamily="18" charset="0"/>
            </a:endParaRPr>
          </a:p>
          <a:p>
            <a:pPr>
              <a:buNone/>
            </a:pPr>
            <a:r>
              <a:rPr lang="en-US" sz="18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16472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7E4BF-8E71-B06E-435D-BB6AB9AB1C4D}"/>
              </a:ext>
            </a:extLst>
          </p:cNvPr>
          <p:cNvSpPr>
            <a:spLocks noGrp="1"/>
          </p:cNvSpPr>
          <p:nvPr>
            <p:ph type="title"/>
          </p:nvPr>
        </p:nvSpPr>
        <p:spPr>
          <a:xfrm>
            <a:off x="755650" y="304800"/>
            <a:ext cx="11204575" cy="369332"/>
          </a:xfrm>
        </p:spPr>
        <p:txBody>
          <a:bodyPr/>
          <a:lstStyle/>
          <a:p>
            <a:r>
              <a:rPr lang="en-IN" dirty="0"/>
              <a:t>USE CASE DIAGRAM:</a:t>
            </a:r>
          </a:p>
        </p:txBody>
      </p:sp>
      <p:pic>
        <p:nvPicPr>
          <p:cNvPr id="3" name="Picture 2">
            <a:extLst>
              <a:ext uri="{FF2B5EF4-FFF2-40B4-BE49-F238E27FC236}">
                <a16:creationId xmlns:a16="http://schemas.microsoft.com/office/drawing/2014/main" id="{BB33890E-8289-2D78-6EA1-3898D02719F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650" y="838200"/>
            <a:ext cx="5949950" cy="5486400"/>
          </a:xfrm>
          <a:prstGeom prst="rect">
            <a:avLst/>
          </a:prstGeom>
          <a:noFill/>
          <a:ln>
            <a:noFill/>
          </a:ln>
        </p:spPr>
      </p:pic>
      <p:sp>
        <p:nvSpPr>
          <p:cNvPr id="5" name="TextBox 4">
            <a:extLst>
              <a:ext uri="{FF2B5EF4-FFF2-40B4-BE49-F238E27FC236}">
                <a16:creationId xmlns:a16="http://schemas.microsoft.com/office/drawing/2014/main" id="{2C4F9A06-AD32-651A-62B8-B8745DA8C360}"/>
              </a:ext>
            </a:extLst>
          </p:cNvPr>
          <p:cNvSpPr txBox="1"/>
          <p:nvPr/>
        </p:nvSpPr>
        <p:spPr>
          <a:xfrm>
            <a:off x="7162800" y="1371600"/>
            <a:ext cx="4419600" cy="3676904"/>
          </a:xfrm>
          <a:prstGeom prst="rect">
            <a:avLst/>
          </a:prstGeom>
          <a:noFill/>
        </p:spPr>
        <p:txBody>
          <a:bodyPr wrap="square">
            <a:spAutoFit/>
          </a:bodyPr>
          <a:lstStyle/>
          <a:p>
            <a:pPr>
              <a:lnSpc>
                <a:spcPct val="150000"/>
              </a:lnSpc>
              <a:spcAft>
                <a:spcPts val="800"/>
              </a:spcAft>
              <a:buNone/>
            </a:pPr>
            <a:r>
              <a:rPr lang="en-US" sz="2000" b="1" dirty="0">
                <a:effectLst/>
                <a:latin typeface="Times New Roman" panose="02020603050405020304" pitchFamily="18" charset="0"/>
                <a:ea typeface="Times New Roman" panose="02020603050405020304" pitchFamily="18" charset="0"/>
              </a:rPr>
              <a:t>Usecase Diagram for EV Energy Demand prediction system</a:t>
            </a:r>
            <a:endParaRPr lang="en-IN" sz="1600" dirty="0">
              <a:effectLst/>
              <a:latin typeface="Times New Roman" panose="02020603050405020304" pitchFamily="18" charset="0"/>
              <a:ea typeface="Times New Roman" panose="02020603050405020304" pitchFamily="18" charset="0"/>
            </a:endParaRPr>
          </a:p>
          <a:p>
            <a:pPr algn="just">
              <a:lnSpc>
                <a:spcPct val="150000"/>
              </a:lnSpc>
              <a:buNone/>
            </a:pPr>
            <a:r>
              <a:rPr lang="en-US" sz="500" dirty="0">
                <a:effectLst/>
                <a:latin typeface="Times New Roman" panose="02020603050405020304" pitchFamily="18" charset="0"/>
                <a:ea typeface="Times New Roman" panose="02020603050405020304" pitchFamily="18" charset="0"/>
              </a:rPr>
              <a:t> </a:t>
            </a:r>
            <a:br>
              <a:rPr lang="en-US"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	This diagram shows how end users and system admins interact with the EV Demand Prediction System. It includes actions like entering input for prediction and managing model training, evaluation, and selection.</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70389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2015B-2405-F27C-4D4D-24F94FA991D9}"/>
              </a:ext>
            </a:extLst>
          </p:cNvPr>
          <p:cNvSpPr>
            <a:spLocks noGrp="1"/>
          </p:cNvSpPr>
          <p:nvPr>
            <p:ph type="title"/>
          </p:nvPr>
        </p:nvSpPr>
        <p:spPr>
          <a:xfrm>
            <a:off x="762000" y="267843"/>
            <a:ext cx="11079098" cy="494157"/>
          </a:xfrm>
        </p:spPr>
        <p:txBody>
          <a:bodyPr/>
          <a:lstStyle/>
          <a:p>
            <a:r>
              <a:rPr lang="en-IN" dirty="0"/>
              <a:t>ACTIVITY DIAGRAM</a:t>
            </a:r>
            <a:br>
              <a:rPr lang="en-IN" dirty="0"/>
            </a:br>
            <a:endParaRPr lang="en-IN" dirty="0"/>
          </a:p>
        </p:txBody>
      </p:sp>
      <p:pic>
        <p:nvPicPr>
          <p:cNvPr id="3" name="Picture 2">
            <a:extLst>
              <a:ext uri="{FF2B5EF4-FFF2-40B4-BE49-F238E27FC236}">
                <a16:creationId xmlns:a16="http://schemas.microsoft.com/office/drawing/2014/main" id="{BBE3F4E0-6A43-4403-EC80-A925D5FF867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762000"/>
            <a:ext cx="5791200" cy="5638800"/>
          </a:xfrm>
          <a:prstGeom prst="rect">
            <a:avLst/>
          </a:prstGeom>
          <a:noFill/>
          <a:ln>
            <a:noFill/>
          </a:ln>
        </p:spPr>
      </p:pic>
      <p:sp>
        <p:nvSpPr>
          <p:cNvPr id="5" name="TextBox 4">
            <a:extLst>
              <a:ext uri="{FF2B5EF4-FFF2-40B4-BE49-F238E27FC236}">
                <a16:creationId xmlns:a16="http://schemas.microsoft.com/office/drawing/2014/main" id="{EDC7B029-8BA7-7CB3-8181-0A38B0B2E461}"/>
              </a:ext>
            </a:extLst>
          </p:cNvPr>
          <p:cNvSpPr txBox="1"/>
          <p:nvPr/>
        </p:nvSpPr>
        <p:spPr>
          <a:xfrm>
            <a:off x="7315199" y="1143000"/>
            <a:ext cx="4220797" cy="3584571"/>
          </a:xfrm>
          <a:prstGeom prst="rect">
            <a:avLst/>
          </a:prstGeom>
          <a:noFill/>
        </p:spPr>
        <p:txBody>
          <a:bodyPr wrap="square">
            <a:spAutoFit/>
          </a:bodyPr>
          <a:lstStyle/>
          <a:p>
            <a:pPr>
              <a:lnSpc>
                <a:spcPct val="150000"/>
              </a:lnSpc>
              <a:spcAft>
                <a:spcPts val="800"/>
              </a:spcAft>
              <a:buNone/>
            </a:pPr>
            <a:r>
              <a:rPr lang="en-US" b="1" dirty="0">
                <a:effectLst/>
                <a:latin typeface="Times New Roman" panose="02020603050405020304" pitchFamily="18" charset="0"/>
                <a:ea typeface="Times New Roman" panose="02020603050405020304" pitchFamily="18" charset="0"/>
              </a:rPr>
              <a:t>Activity Diagram for EV Energy Demand prediction system</a:t>
            </a:r>
          </a:p>
          <a:p>
            <a:pPr algn="just">
              <a:lnSpc>
                <a:spcPct val="150000"/>
              </a:lnSpc>
              <a:spcAft>
                <a:spcPts val="800"/>
              </a:spcAft>
              <a:buNone/>
            </a:pPr>
            <a:r>
              <a:rPr lang="en-IN" sz="500" dirty="0">
                <a:effectLst/>
                <a:latin typeface="Times New Roman" panose="02020603050405020304" pitchFamily="18" charset="0"/>
                <a:ea typeface="Times New Roman" panose="02020603050405020304" pitchFamily="18" charset="0"/>
              </a:rPr>
              <a:t> </a:t>
            </a:r>
            <a:br>
              <a:rPr lang="en-IN" dirty="0">
                <a:effectLst/>
                <a:latin typeface="Times New Roman" panose="02020603050405020304" pitchFamily="18" charset="0"/>
                <a:ea typeface="Times New Roman" panose="02020603050405020304" pitchFamily="18" charset="0"/>
              </a:rPr>
            </a:br>
            <a:r>
              <a:rPr lang="en-IN" dirty="0">
                <a:effectLst/>
                <a:latin typeface="Times New Roman" panose="02020603050405020304" pitchFamily="18" charset="0"/>
                <a:ea typeface="Times New Roman" panose="02020603050405020304" pitchFamily="18" charset="0"/>
              </a:rPr>
              <a:t>	This diagram represents the workflow of the EV demand prediction process from dataset loading to final result display. It explains how data is processed, models are trained, and the best model is used for prediction.</a:t>
            </a:r>
          </a:p>
        </p:txBody>
      </p:sp>
    </p:spTree>
    <p:extLst>
      <p:ext uri="{BB962C8B-B14F-4D97-AF65-F5344CB8AC3E}">
        <p14:creationId xmlns:p14="http://schemas.microsoft.com/office/powerpoint/2010/main" val="2099502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7CC6C-B7D3-583E-099C-1908F6F858F8}"/>
              </a:ext>
            </a:extLst>
          </p:cNvPr>
          <p:cNvSpPr>
            <a:spLocks noGrp="1"/>
          </p:cNvSpPr>
          <p:nvPr>
            <p:ph type="title"/>
          </p:nvPr>
        </p:nvSpPr>
        <p:spPr>
          <a:xfrm>
            <a:off x="685800" y="267843"/>
            <a:ext cx="11002898" cy="369332"/>
          </a:xfrm>
        </p:spPr>
        <p:txBody>
          <a:bodyPr/>
          <a:lstStyle/>
          <a:p>
            <a:r>
              <a:rPr lang="en-IN" dirty="0"/>
              <a:t>SEQUENCE DIAGRAM</a:t>
            </a:r>
          </a:p>
        </p:txBody>
      </p:sp>
      <p:pic>
        <p:nvPicPr>
          <p:cNvPr id="3" name="Picture 2">
            <a:extLst>
              <a:ext uri="{FF2B5EF4-FFF2-40B4-BE49-F238E27FC236}">
                <a16:creationId xmlns:a16="http://schemas.microsoft.com/office/drawing/2014/main" id="{2D3B5C03-4AFC-797C-1109-9B14A0F4D67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838200"/>
            <a:ext cx="6705600" cy="5257800"/>
          </a:xfrm>
          <a:prstGeom prst="rect">
            <a:avLst/>
          </a:prstGeom>
          <a:noFill/>
          <a:ln>
            <a:noFill/>
          </a:ln>
        </p:spPr>
      </p:pic>
      <p:sp>
        <p:nvSpPr>
          <p:cNvPr id="5" name="TextBox 4">
            <a:extLst>
              <a:ext uri="{FF2B5EF4-FFF2-40B4-BE49-F238E27FC236}">
                <a16:creationId xmlns:a16="http://schemas.microsoft.com/office/drawing/2014/main" id="{A1C5F0BD-5BEB-AF04-CF9A-AD169D939776}"/>
              </a:ext>
            </a:extLst>
          </p:cNvPr>
          <p:cNvSpPr txBox="1"/>
          <p:nvPr/>
        </p:nvSpPr>
        <p:spPr>
          <a:xfrm>
            <a:off x="7696200" y="1447800"/>
            <a:ext cx="3992498" cy="3676904"/>
          </a:xfrm>
          <a:prstGeom prst="rect">
            <a:avLst/>
          </a:prstGeom>
          <a:noFill/>
        </p:spPr>
        <p:txBody>
          <a:bodyPr wrap="square">
            <a:spAutoFit/>
          </a:bodyPr>
          <a:lstStyle/>
          <a:p>
            <a:pPr>
              <a:lnSpc>
                <a:spcPct val="150000"/>
              </a:lnSpc>
              <a:spcAft>
                <a:spcPts val="800"/>
              </a:spcAft>
              <a:buNone/>
            </a:pPr>
            <a:r>
              <a:rPr lang="en-US" sz="2000" b="1" dirty="0">
                <a:effectLst/>
                <a:latin typeface="Times New Roman" panose="02020603050405020304" pitchFamily="18" charset="0"/>
                <a:ea typeface="Times New Roman" panose="02020603050405020304" pitchFamily="18" charset="0"/>
              </a:rPr>
              <a:t>Sequence Diagram for EV Energy Demand prediction system</a:t>
            </a:r>
            <a:endParaRPr lang="en-IN" sz="1600" dirty="0">
              <a:effectLst/>
              <a:latin typeface="Times New Roman" panose="02020603050405020304" pitchFamily="18" charset="0"/>
              <a:ea typeface="Times New Roman" panose="02020603050405020304" pitchFamily="18" charset="0"/>
            </a:endParaRPr>
          </a:p>
          <a:p>
            <a:pPr algn="just">
              <a:lnSpc>
                <a:spcPct val="150000"/>
              </a:lnSpc>
              <a:buNone/>
            </a:pPr>
            <a:r>
              <a:rPr lang="en-US" sz="500" dirty="0">
                <a:effectLst/>
                <a:latin typeface="Times New Roman" panose="02020603050405020304" pitchFamily="18" charset="0"/>
                <a:ea typeface="Times New Roman" panose="02020603050405020304" pitchFamily="18" charset="0"/>
              </a:rPr>
              <a:t>        </a:t>
            </a:r>
            <a:br>
              <a:rPr lang="en-US"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	This diagram shows how different components of the EV Demand Prediction System communicate during prediction. It illustrates the flow from user input in the UI to preprocessing, model loading, and result generation.</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78962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EBA14-2CC6-DE72-3649-3DE8FFB26924}"/>
              </a:ext>
            </a:extLst>
          </p:cNvPr>
          <p:cNvSpPr>
            <a:spLocks noGrp="1"/>
          </p:cNvSpPr>
          <p:nvPr>
            <p:ph type="title"/>
          </p:nvPr>
        </p:nvSpPr>
        <p:spPr>
          <a:xfrm>
            <a:off x="609600" y="267843"/>
            <a:ext cx="11079098" cy="369332"/>
          </a:xfrm>
        </p:spPr>
        <p:txBody>
          <a:bodyPr/>
          <a:lstStyle/>
          <a:p>
            <a:r>
              <a:rPr lang="en-IN" dirty="0"/>
              <a:t>SYSTEM ARCHITECTURE</a:t>
            </a:r>
          </a:p>
        </p:txBody>
      </p:sp>
      <p:pic>
        <p:nvPicPr>
          <p:cNvPr id="3" name="Picture 2">
            <a:extLst>
              <a:ext uri="{FF2B5EF4-FFF2-40B4-BE49-F238E27FC236}">
                <a16:creationId xmlns:a16="http://schemas.microsoft.com/office/drawing/2014/main" id="{8EDC165F-75C0-72BA-7F1E-69E3B4B4811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637175"/>
            <a:ext cx="6172200" cy="5763624"/>
          </a:xfrm>
          <a:prstGeom prst="rect">
            <a:avLst/>
          </a:prstGeom>
          <a:noFill/>
          <a:ln>
            <a:noFill/>
          </a:ln>
        </p:spPr>
      </p:pic>
      <p:sp>
        <p:nvSpPr>
          <p:cNvPr id="5" name="TextBox 4">
            <a:extLst>
              <a:ext uri="{FF2B5EF4-FFF2-40B4-BE49-F238E27FC236}">
                <a16:creationId xmlns:a16="http://schemas.microsoft.com/office/drawing/2014/main" id="{E9CA743B-8EDB-F8CD-193C-D001D66EDA9C}"/>
              </a:ext>
            </a:extLst>
          </p:cNvPr>
          <p:cNvSpPr txBox="1"/>
          <p:nvPr/>
        </p:nvSpPr>
        <p:spPr>
          <a:xfrm>
            <a:off x="7030666" y="1447800"/>
            <a:ext cx="4648200" cy="3363998"/>
          </a:xfrm>
          <a:prstGeom prst="rect">
            <a:avLst/>
          </a:prstGeom>
          <a:noFill/>
        </p:spPr>
        <p:txBody>
          <a:bodyPr wrap="square">
            <a:spAutoFit/>
          </a:bodyPr>
          <a:lstStyle/>
          <a:p>
            <a:pPr>
              <a:lnSpc>
                <a:spcPct val="150000"/>
              </a:lnSpc>
              <a:spcAft>
                <a:spcPts val="800"/>
              </a:spcAft>
              <a:buNone/>
            </a:pPr>
            <a:r>
              <a:rPr lang="en-US" sz="2000" b="1" dirty="0">
                <a:effectLst/>
                <a:latin typeface="Times New Roman" panose="02020603050405020304" pitchFamily="18" charset="0"/>
                <a:ea typeface="Times New Roman" panose="02020603050405020304" pitchFamily="18" charset="0"/>
              </a:rPr>
              <a:t>System Architecture for EV Energy Demand prediction system</a:t>
            </a:r>
          </a:p>
          <a:p>
            <a:pPr>
              <a:lnSpc>
                <a:spcPct val="150000"/>
              </a:lnSpc>
              <a:spcAft>
                <a:spcPts val="800"/>
              </a:spcAft>
              <a:buNone/>
            </a:pPr>
            <a:r>
              <a:rPr lang="en-US" sz="500" b="1" dirty="0">
                <a:latin typeface="Times New Roman" panose="02020603050405020304" pitchFamily="18" charset="0"/>
                <a:ea typeface="Times New Roman" panose="02020603050405020304" pitchFamily="18" charset="0"/>
              </a:rPr>
              <a:t> </a:t>
            </a:r>
            <a:endParaRPr lang="en-IN" sz="500" dirty="0">
              <a:effectLst/>
              <a:latin typeface="Times New Roman" panose="02020603050405020304" pitchFamily="18" charset="0"/>
              <a:ea typeface="Times New Roman" panose="02020603050405020304" pitchFamily="18" charset="0"/>
            </a:endParaRPr>
          </a:p>
          <a:p>
            <a:pPr algn="just">
              <a:lnSpc>
                <a:spcPct val="150000"/>
              </a:lnSpc>
              <a:spcAft>
                <a:spcPts val="800"/>
              </a:spcAft>
              <a:buNone/>
            </a:pPr>
            <a:r>
              <a:rPr lang="en-IN" sz="1800" dirty="0">
                <a:effectLst/>
                <a:latin typeface="Times New Roman" panose="02020603050405020304" pitchFamily="18" charset="0"/>
                <a:ea typeface="Times New Roman" panose="02020603050405020304" pitchFamily="18" charset="0"/>
              </a:rPr>
              <a:t>	This diagram shows the overall design of the EV Demand Prediction System with layers like UI, application logic, data storage, and models. It explains how all parts integrate to deliver demand predictions.</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48338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8C0C7-0752-FD2E-25C5-BCF7CA516F9F}"/>
              </a:ext>
            </a:extLst>
          </p:cNvPr>
          <p:cNvSpPr>
            <a:spLocks noGrp="1"/>
          </p:cNvSpPr>
          <p:nvPr>
            <p:ph type="title"/>
          </p:nvPr>
        </p:nvSpPr>
        <p:spPr>
          <a:xfrm>
            <a:off x="628778" y="419755"/>
            <a:ext cx="11059920" cy="430887"/>
          </a:xfrm>
        </p:spPr>
        <p:txBody>
          <a:bodyPr/>
          <a:lstStyle/>
          <a:p>
            <a:r>
              <a:rPr lang="en-IN" sz="2800" dirty="0"/>
              <a:t>Implementation</a:t>
            </a:r>
          </a:p>
        </p:txBody>
      </p:sp>
      <p:sp>
        <p:nvSpPr>
          <p:cNvPr id="3" name="Text Placeholder 2">
            <a:extLst>
              <a:ext uri="{FF2B5EF4-FFF2-40B4-BE49-F238E27FC236}">
                <a16:creationId xmlns:a16="http://schemas.microsoft.com/office/drawing/2014/main" id="{2714A213-4282-4949-A725-B76934DA23DB}"/>
              </a:ext>
            </a:extLst>
          </p:cNvPr>
          <p:cNvSpPr>
            <a:spLocks noGrp="1"/>
          </p:cNvSpPr>
          <p:nvPr>
            <p:ph type="body" idx="1"/>
          </p:nvPr>
        </p:nvSpPr>
        <p:spPr>
          <a:xfrm>
            <a:off x="628778" y="990600"/>
            <a:ext cx="11204575" cy="5262979"/>
          </a:xfrm>
        </p:spPr>
        <p:txBody>
          <a:bodyPr/>
          <a:lstStyle/>
          <a:p>
            <a:pPr algn="just"/>
            <a:r>
              <a:rPr lang="en-IN" sz="1800" b="0" dirty="0"/>
              <a:t>	The implementation of the EV Energy Demand Prediction System is carried out in a structured pipeline consisting of data preprocessing, model training, model evaluation, and real-time prediction using a web interface.</a:t>
            </a:r>
          </a:p>
          <a:p>
            <a:pPr algn="just"/>
            <a:endParaRPr lang="en-IN" sz="1800" b="0" dirty="0"/>
          </a:p>
          <a:p>
            <a:pPr marL="285750" indent="-285750">
              <a:buFont typeface="Wingdings" panose="05000000000000000000" pitchFamily="2" charset="2"/>
              <a:buChar char="q"/>
            </a:pPr>
            <a:r>
              <a:rPr lang="en-IN" sz="1800" dirty="0"/>
              <a:t>PROJECT STRUCTURE</a:t>
            </a:r>
          </a:p>
          <a:p>
            <a:pPr marL="285750" indent="-285750">
              <a:buFont typeface="Arial" panose="020B0604020202020204" pitchFamily="34" charset="0"/>
              <a:buChar char="•"/>
            </a:pPr>
            <a:r>
              <a:rPr lang="en-IN" sz="1800" b="0" dirty="0"/>
              <a:t>preprocessing/ → Data cleaning &amp; feature engineering </a:t>
            </a:r>
          </a:p>
          <a:p>
            <a:pPr marL="285750" indent="-285750">
              <a:buFont typeface="Arial" panose="020B0604020202020204" pitchFamily="34" charset="0"/>
              <a:buChar char="•"/>
            </a:pPr>
            <a:r>
              <a:rPr lang="en-IN" sz="1800" b="0" dirty="0"/>
              <a:t>models/ → Linear, ANN, LSTM models </a:t>
            </a:r>
          </a:p>
          <a:p>
            <a:pPr marL="285750" indent="-285750">
              <a:buFont typeface="Arial" panose="020B0604020202020204" pitchFamily="34" charset="0"/>
              <a:buChar char="•"/>
            </a:pPr>
            <a:r>
              <a:rPr lang="en-IN" sz="1800" b="0" dirty="0"/>
              <a:t>training.py → Train all models </a:t>
            </a:r>
          </a:p>
          <a:p>
            <a:pPr marL="285750" indent="-285750">
              <a:buFont typeface="Arial" panose="020B0604020202020204" pitchFamily="34" charset="0"/>
              <a:buChar char="•"/>
            </a:pPr>
            <a:r>
              <a:rPr lang="en-IN" sz="1800" b="0" dirty="0"/>
              <a:t>inference.py → Prediction logic </a:t>
            </a:r>
          </a:p>
          <a:p>
            <a:pPr marL="285750" indent="-285750">
              <a:buFont typeface="Arial" panose="020B0604020202020204" pitchFamily="34" charset="0"/>
              <a:buChar char="•"/>
            </a:pPr>
            <a:r>
              <a:rPr lang="en-IN" sz="1800" b="0" dirty="0"/>
              <a:t>app.py → Streamlit UI</a:t>
            </a:r>
          </a:p>
          <a:p>
            <a:endParaRPr lang="en-IN" sz="1800" b="0" dirty="0"/>
          </a:p>
          <a:p>
            <a:pPr marL="285750" indent="-285750" rtl="0">
              <a:buFont typeface="Wingdings" panose="05000000000000000000" pitchFamily="2" charset="2"/>
              <a:buChar char="q"/>
            </a:pPr>
            <a:r>
              <a:rPr lang="en-US" sz="1800" dirty="0"/>
              <a:t>SETUP</a:t>
            </a:r>
          </a:p>
          <a:p>
            <a:pPr marL="285750" indent="-285750" rtl="0">
              <a:buFont typeface="Wingdings" panose="05000000000000000000" pitchFamily="2" charset="2"/>
              <a:buChar char="Ø"/>
            </a:pPr>
            <a:r>
              <a:rPr lang="en-US" sz="1800" b="0" dirty="0"/>
              <a:t>pip install -r requirements.txt</a:t>
            </a:r>
          </a:p>
          <a:p>
            <a:pPr rtl="0"/>
            <a:endParaRPr lang="en-US" sz="1800" b="0" dirty="0"/>
          </a:p>
          <a:p>
            <a:pPr marL="285750" indent="-285750">
              <a:buFont typeface="Wingdings" panose="05000000000000000000" pitchFamily="2" charset="2"/>
              <a:buChar char="q"/>
            </a:pPr>
            <a:r>
              <a:rPr lang="en-IN" sz="1800" dirty="0"/>
              <a:t>DATA PREPROCESSING</a:t>
            </a:r>
          </a:p>
          <a:p>
            <a:pPr marL="285750" indent="-285750">
              <a:buFont typeface="Arial" panose="020B0604020202020204" pitchFamily="34" charset="0"/>
              <a:buChar char="•"/>
            </a:pPr>
            <a:r>
              <a:rPr lang="en-IN" sz="1800" b="0" dirty="0"/>
              <a:t>Remove missing values &amp; duplicates </a:t>
            </a:r>
          </a:p>
          <a:p>
            <a:pPr marL="285750" indent="-285750">
              <a:buFont typeface="Arial" panose="020B0604020202020204" pitchFamily="34" charset="0"/>
              <a:buChar char="•"/>
            </a:pPr>
            <a:r>
              <a:rPr lang="en-IN" sz="1800" b="0" dirty="0"/>
              <a:t>Feature engineering (Hour, </a:t>
            </a:r>
            <a:r>
              <a:rPr lang="en-IN" sz="1800" b="0" dirty="0" err="1"/>
              <a:t>PeakHour</a:t>
            </a:r>
            <a:r>
              <a:rPr lang="en-IN" sz="1800" b="0" dirty="0"/>
              <a:t>) </a:t>
            </a:r>
          </a:p>
          <a:p>
            <a:pPr marL="285750" indent="-285750">
              <a:buFont typeface="Arial" panose="020B0604020202020204" pitchFamily="34" charset="0"/>
              <a:buChar char="•"/>
            </a:pPr>
            <a:r>
              <a:rPr lang="en-IN" sz="1800" b="0" dirty="0"/>
              <a:t>Encoding categorical variables </a:t>
            </a:r>
          </a:p>
          <a:p>
            <a:pPr marL="285750" indent="-285750">
              <a:buFont typeface="Arial" panose="020B0604020202020204" pitchFamily="34" charset="0"/>
              <a:buChar char="•"/>
            </a:pPr>
            <a:r>
              <a:rPr lang="en-IN" sz="1800" b="0" dirty="0"/>
              <a:t>Scaling numerical features </a:t>
            </a:r>
          </a:p>
          <a:p>
            <a:pPr algn="just"/>
            <a:endParaRPr lang="en-IN" sz="1800" b="0" dirty="0"/>
          </a:p>
        </p:txBody>
      </p:sp>
    </p:spTree>
    <p:extLst>
      <p:ext uri="{BB962C8B-B14F-4D97-AF65-F5344CB8AC3E}">
        <p14:creationId xmlns:p14="http://schemas.microsoft.com/office/powerpoint/2010/main" val="26810198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80C0240-7B49-B929-5868-24E651EA5791}"/>
              </a:ext>
            </a:extLst>
          </p:cNvPr>
          <p:cNvSpPr>
            <a:spLocks noGrp="1"/>
          </p:cNvSpPr>
          <p:nvPr>
            <p:ph type="body" idx="1"/>
          </p:nvPr>
        </p:nvSpPr>
        <p:spPr>
          <a:xfrm>
            <a:off x="533400" y="241981"/>
            <a:ext cx="10972799" cy="6370975"/>
          </a:xfrm>
        </p:spPr>
        <p:txBody>
          <a:bodyPr/>
          <a:lstStyle/>
          <a:p>
            <a:pPr marL="285750" indent="-285750">
              <a:buFont typeface="Wingdings" panose="05000000000000000000" pitchFamily="2" charset="2"/>
              <a:buChar char="v"/>
            </a:pPr>
            <a:r>
              <a:rPr lang="en-IN" sz="1800" b="0" dirty="0"/>
              <a:t>Code Snippet:</a:t>
            </a:r>
          </a:p>
          <a:p>
            <a:pPr rtl="0"/>
            <a:r>
              <a:rPr lang="en-IN" sz="1800" b="0" dirty="0" err="1"/>
              <a:t>df</a:t>
            </a:r>
            <a:r>
              <a:rPr lang="en-IN" sz="1800" b="0" dirty="0"/>
              <a:t> = </a:t>
            </a:r>
            <a:r>
              <a:rPr lang="en-IN" sz="1800" b="0" dirty="0" err="1"/>
              <a:t>df.drop_duplicates</a:t>
            </a:r>
            <a:r>
              <a:rPr lang="en-IN" sz="1800" b="0" dirty="0"/>
              <a:t>()</a:t>
            </a:r>
            <a:br>
              <a:rPr lang="en-IN" sz="1800" b="0" dirty="0"/>
            </a:br>
            <a:r>
              <a:rPr lang="en-IN" sz="1800" b="0" dirty="0" err="1"/>
              <a:t>df</a:t>
            </a:r>
            <a:r>
              <a:rPr lang="en-IN" sz="1800" b="0" dirty="0"/>
              <a:t> = </a:t>
            </a:r>
            <a:r>
              <a:rPr lang="en-IN" sz="1800" b="0" dirty="0" err="1"/>
              <a:t>df.fillna</a:t>
            </a:r>
            <a:r>
              <a:rPr lang="en-IN" sz="1800" b="0" dirty="0"/>
              <a:t>(method='</a:t>
            </a:r>
            <a:r>
              <a:rPr lang="en-IN" sz="1800" b="0" dirty="0" err="1"/>
              <a:t>ffill</a:t>
            </a:r>
            <a:r>
              <a:rPr lang="en-IN" sz="1800" b="0" dirty="0"/>
              <a:t>').</a:t>
            </a:r>
            <a:r>
              <a:rPr lang="en-IN" sz="1800" b="0" dirty="0" err="1"/>
              <a:t>fillna</a:t>
            </a:r>
            <a:r>
              <a:rPr lang="en-IN" sz="1800" b="0" dirty="0"/>
              <a:t>(method='</a:t>
            </a:r>
            <a:r>
              <a:rPr lang="en-IN" sz="1800" b="0" dirty="0" err="1"/>
              <a:t>bfill</a:t>
            </a:r>
            <a:r>
              <a:rPr lang="en-IN" sz="1800" b="0" dirty="0"/>
              <a:t>')</a:t>
            </a:r>
            <a:br>
              <a:rPr lang="en-IN" sz="1800" b="0" dirty="0"/>
            </a:br>
            <a:br>
              <a:rPr lang="en-IN" sz="1800" b="0" dirty="0"/>
            </a:br>
            <a:r>
              <a:rPr lang="en-IN" sz="1800" b="0" dirty="0" err="1"/>
              <a:t>df</a:t>
            </a:r>
            <a:r>
              <a:rPr lang="en-IN" sz="1800" b="0" dirty="0"/>
              <a:t>['Hour'] = </a:t>
            </a:r>
            <a:r>
              <a:rPr lang="en-IN" sz="1800" b="0" dirty="0" err="1"/>
              <a:t>df</a:t>
            </a:r>
            <a:r>
              <a:rPr lang="en-IN" sz="1800" b="0" dirty="0"/>
              <a:t>['Time'].apply(lambda x: int(str(x).split(':')[0]))</a:t>
            </a:r>
            <a:br>
              <a:rPr lang="en-IN" sz="1800" b="0" dirty="0"/>
            </a:br>
            <a:r>
              <a:rPr lang="en-IN" sz="1800" b="0" dirty="0" err="1"/>
              <a:t>df</a:t>
            </a:r>
            <a:r>
              <a:rPr lang="en-IN" sz="1800" b="0" dirty="0"/>
              <a:t>['</a:t>
            </a:r>
            <a:r>
              <a:rPr lang="en-IN" sz="1800" b="0" dirty="0" err="1"/>
              <a:t>IsPeakHour</a:t>
            </a:r>
            <a:r>
              <a:rPr lang="en-IN" sz="1800" b="0" dirty="0"/>
              <a:t>'] = </a:t>
            </a:r>
            <a:r>
              <a:rPr lang="en-IN" sz="1800" b="0" dirty="0" err="1"/>
              <a:t>df</a:t>
            </a:r>
            <a:r>
              <a:rPr lang="en-IN" sz="1800" b="0" dirty="0"/>
              <a:t>['Hour'].apply(lambda h: 1 if (7&lt;=h&lt;=10 or 17&lt;=h&lt;=20) else 0)</a:t>
            </a:r>
            <a:br>
              <a:rPr lang="en-IN" sz="1800" b="0" dirty="0"/>
            </a:br>
            <a:br>
              <a:rPr lang="en-IN" sz="1800" b="0" dirty="0"/>
            </a:br>
            <a:r>
              <a:rPr lang="en-IN" sz="1800" b="0" dirty="0" err="1"/>
              <a:t>df</a:t>
            </a:r>
            <a:r>
              <a:rPr lang="en-IN" sz="1800" b="0" dirty="0"/>
              <a:t>['</a:t>
            </a:r>
            <a:r>
              <a:rPr lang="en-IN" sz="1800" b="0" dirty="0" err="1"/>
              <a:t>Hour_Sin</a:t>
            </a:r>
            <a:r>
              <a:rPr lang="en-IN" sz="1800" b="0" dirty="0"/>
              <a:t>'] = </a:t>
            </a:r>
            <a:r>
              <a:rPr lang="en-IN" sz="1800" b="0" dirty="0" err="1"/>
              <a:t>np.sin</a:t>
            </a:r>
            <a:r>
              <a:rPr lang="en-IN" sz="1800" b="0" dirty="0"/>
              <a:t>(2 * </a:t>
            </a:r>
            <a:r>
              <a:rPr lang="en-IN" sz="1800" b="0" dirty="0" err="1"/>
              <a:t>np.pi</a:t>
            </a:r>
            <a:r>
              <a:rPr lang="en-IN" sz="1800" b="0" dirty="0"/>
              <a:t> * </a:t>
            </a:r>
            <a:r>
              <a:rPr lang="en-IN" sz="1800" b="0" dirty="0" err="1"/>
              <a:t>df</a:t>
            </a:r>
            <a:r>
              <a:rPr lang="en-IN" sz="1800" b="0" dirty="0"/>
              <a:t>['Hour']/24)</a:t>
            </a:r>
            <a:br>
              <a:rPr lang="en-IN" sz="1800" b="0" dirty="0"/>
            </a:br>
            <a:r>
              <a:rPr lang="en-IN" sz="1800" b="0" dirty="0" err="1"/>
              <a:t>df</a:t>
            </a:r>
            <a:r>
              <a:rPr lang="en-IN" sz="1800" b="0" dirty="0"/>
              <a:t>['</a:t>
            </a:r>
            <a:r>
              <a:rPr lang="en-IN" sz="1800" b="0" dirty="0" err="1"/>
              <a:t>Hour_Cos</a:t>
            </a:r>
            <a:r>
              <a:rPr lang="en-IN" sz="1800" b="0" dirty="0"/>
              <a:t>'] = </a:t>
            </a:r>
            <a:r>
              <a:rPr lang="en-IN" sz="1800" b="0" dirty="0" err="1"/>
              <a:t>np.cos</a:t>
            </a:r>
            <a:r>
              <a:rPr lang="en-IN" sz="1800" b="0" dirty="0"/>
              <a:t>(2 * </a:t>
            </a:r>
            <a:r>
              <a:rPr lang="en-IN" sz="1800" b="0" dirty="0" err="1"/>
              <a:t>np.pi</a:t>
            </a:r>
            <a:r>
              <a:rPr lang="en-IN" sz="1800" b="0" dirty="0"/>
              <a:t> * </a:t>
            </a:r>
            <a:r>
              <a:rPr lang="en-IN" sz="1800" b="0" dirty="0" err="1"/>
              <a:t>df</a:t>
            </a:r>
            <a:r>
              <a:rPr lang="en-IN" sz="1800" b="0" dirty="0"/>
              <a:t>['Hour']/24)</a:t>
            </a:r>
          </a:p>
          <a:p>
            <a:pPr rtl="0"/>
            <a:endParaRPr lang="en-IN" sz="1800" b="0" dirty="0"/>
          </a:p>
          <a:p>
            <a:pPr marL="285750" indent="-285750">
              <a:buFont typeface="Wingdings" panose="05000000000000000000" pitchFamily="2" charset="2"/>
              <a:buChar char="q"/>
            </a:pPr>
            <a:r>
              <a:rPr lang="en-IN" sz="1800" dirty="0"/>
              <a:t>Model Training</a:t>
            </a:r>
          </a:p>
          <a:p>
            <a:pPr marL="285750" indent="-285750">
              <a:buFont typeface="Wingdings" panose="05000000000000000000" pitchFamily="2" charset="2"/>
              <a:buChar char="v"/>
            </a:pPr>
            <a:r>
              <a:rPr lang="en-IN" sz="1800" b="0" dirty="0"/>
              <a:t>Run training:</a:t>
            </a:r>
          </a:p>
          <a:p>
            <a:pPr marL="285750" indent="-285750" rtl="0">
              <a:buFont typeface="Wingdings" panose="05000000000000000000" pitchFamily="2" charset="2"/>
              <a:buChar char="Ø"/>
            </a:pPr>
            <a:r>
              <a:rPr lang="en-IN" sz="1800" b="0" dirty="0"/>
              <a:t>python training.py</a:t>
            </a:r>
          </a:p>
          <a:p>
            <a:pPr marL="285750" indent="-285750" rtl="0">
              <a:buFont typeface="Wingdings" panose="05000000000000000000" pitchFamily="2" charset="2"/>
              <a:buChar char="v"/>
            </a:pPr>
            <a:r>
              <a:rPr lang="en-IN" sz="1800" b="0" dirty="0"/>
              <a:t>Code Snippet:</a:t>
            </a:r>
          </a:p>
          <a:p>
            <a:pPr rtl="0"/>
            <a:r>
              <a:rPr lang="en-IN" sz="1800" b="0" dirty="0" err="1"/>
              <a:t>lr_model</a:t>
            </a:r>
            <a:r>
              <a:rPr lang="en-IN" sz="1800" b="0" dirty="0"/>
              <a:t>, </a:t>
            </a:r>
            <a:r>
              <a:rPr lang="en-IN" sz="1800" b="0" dirty="0" err="1"/>
              <a:t>lr_metrics</a:t>
            </a:r>
            <a:r>
              <a:rPr lang="en-IN" sz="1800" b="0" dirty="0"/>
              <a:t> = </a:t>
            </a:r>
            <a:r>
              <a:rPr lang="en-IN" sz="1800" b="0" dirty="0" err="1"/>
              <a:t>train_linear_model</a:t>
            </a:r>
            <a:r>
              <a:rPr lang="en-IN" sz="1800" b="0" dirty="0"/>
              <a:t>()</a:t>
            </a:r>
            <a:br>
              <a:rPr lang="en-IN" sz="1800" b="0" dirty="0"/>
            </a:br>
            <a:r>
              <a:rPr lang="en-IN" sz="1800" b="0" dirty="0" err="1"/>
              <a:t>ann_model</a:t>
            </a:r>
            <a:r>
              <a:rPr lang="en-IN" sz="1800" b="0" dirty="0"/>
              <a:t>, </a:t>
            </a:r>
            <a:r>
              <a:rPr lang="en-IN" sz="1800" b="0" dirty="0" err="1"/>
              <a:t>ann_metrics</a:t>
            </a:r>
            <a:r>
              <a:rPr lang="en-IN" sz="1800" b="0" dirty="0"/>
              <a:t> = </a:t>
            </a:r>
            <a:r>
              <a:rPr lang="en-IN" sz="1800" b="0" dirty="0" err="1"/>
              <a:t>train_ann_model</a:t>
            </a:r>
            <a:r>
              <a:rPr lang="en-IN" sz="1800" b="0" dirty="0"/>
              <a:t>()</a:t>
            </a:r>
            <a:br>
              <a:rPr lang="en-IN" sz="1800" b="0" dirty="0"/>
            </a:br>
            <a:r>
              <a:rPr lang="en-IN" sz="1800" b="0" dirty="0" err="1"/>
              <a:t>lstm_model</a:t>
            </a:r>
            <a:r>
              <a:rPr lang="en-IN" sz="1800" b="0" dirty="0"/>
              <a:t>, </a:t>
            </a:r>
            <a:r>
              <a:rPr lang="en-IN" sz="1800" b="0" dirty="0" err="1"/>
              <a:t>lstm_metrics</a:t>
            </a:r>
            <a:r>
              <a:rPr lang="en-IN" sz="1800" b="0" dirty="0"/>
              <a:t> = </a:t>
            </a:r>
            <a:r>
              <a:rPr lang="en-IN" sz="1800" b="0" dirty="0" err="1"/>
              <a:t>train_lstm_model</a:t>
            </a:r>
            <a:r>
              <a:rPr lang="en-IN" sz="1800" b="0" dirty="0"/>
              <a:t>(</a:t>
            </a:r>
            <a:r>
              <a:rPr lang="en-IN" sz="1800" b="0" dirty="0" err="1"/>
              <a:t>time_steps</a:t>
            </a:r>
            <a:r>
              <a:rPr lang="en-IN" sz="1800" b="0" dirty="0"/>
              <a:t>=24)</a:t>
            </a:r>
          </a:p>
          <a:p>
            <a:pPr rtl="0"/>
            <a:endParaRPr lang="en-IN" sz="1800" b="0" dirty="0"/>
          </a:p>
          <a:p>
            <a:r>
              <a:rPr lang="en-IN" sz="1800" dirty="0">
                <a:latin typeface="Times New Roman" panose="02020603050405020304" pitchFamily="18" charset="0"/>
                <a:cs typeface="Times New Roman" panose="02020603050405020304" pitchFamily="18" charset="0"/>
              </a:rPr>
              <a:t>What happens internally:</a:t>
            </a:r>
          </a:p>
          <a:p>
            <a:pPr marL="285750" lvl="0" indent="-285750">
              <a:buFont typeface="Wingdings" panose="05000000000000000000" pitchFamily="2" charset="2"/>
              <a:buChar char="§"/>
            </a:pPr>
            <a:r>
              <a:rPr lang="en-IN" sz="1800" b="0" dirty="0">
                <a:latin typeface="Times New Roman" panose="02020603050405020304" pitchFamily="18" charset="0"/>
                <a:cs typeface="Times New Roman" panose="02020603050405020304" pitchFamily="18" charset="0"/>
              </a:rPr>
              <a:t>Linear Regression Model : Trained as baseline model </a:t>
            </a:r>
          </a:p>
          <a:p>
            <a:pPr marL="285750" lvl="0" indent="-285750">
              <a:buFont typeface="Wingdings" panose="05000000000000000000" pitchFamily="2" charset="2"/>
              <a:buChar char="§"/>
            </a:pPr>
            <a:r>
              <a:rPr lang="en-IN" sz="1800" b="0" dirty="0">
                <a:latin typeface="Times New Roman" panose="02020603050405020304" pitchFamily="18" charset="0"/>
                <a:cs typeface="Times New Roman" panose="02020603050405020304" pitchFamily="18" charset="0"/>
              </a:rPr>
              <a:t>ANN Model : Learns nonlinear relationships </a:t>
            </a:r>
          </a:p>
          <a:p>
            <a:pPr marL="285750" lvl="0" indent="-285750">
              <a:buFont typeface="Wingdings" panose="05000000000000000000" pitchFamily="2" charset="2"/>
              <a:buChar char="§"/>
            </a:pPr>
            <a:r>
              <a:rPr lang="en-IN" sz="1800" b="0" dirty="0">
                <a:latin typeface="Times New Roman" panose="02020603050405020304" pitchFamily="18" charset="0"/>
                <a:cs typeface="Times New Roman" panose="02020603050405020304" pitchFamily="18" charset="0"/>
              </a:rPr>
              <a:t>LSTM Model : Uses time-series sequences (24 time steps) , Captures temporal dependencies </a:t>
            </a:r>
            <a:endParaRPr lang="en-IN" sz="1800" b="0" dirty="0"/>
          </a:p>
          <a:p>
            <a:endParaRPr lang="en-IN" sz="1800" dirty="0"/>
          </a:p>
        </p:txBody>
      </p:sp>
    </p:spTree>
    <p:extLst>
      <p:ext uri="{BB962C8B-B14F-4D97-AF65-F5344CB8AC3E}">
        <p14:creationId xmlns:p14="http://schemas.microsoft.com/office/powerpoint/2010/main" val="457516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54B198-A5F3-C259-7F2C-246B5D35F7D5}"/>
              </a:ext>
            </a:extLst>
          </p:cNvPr>
          <p:cNvSpPr>
            <a:spLocks noGrp="1"/>
          </p:cNvSpPr>
          <p:nvPr>
            <p:ph type="body" idx="1"/>
          </p:nvPr>
        </p:nvSpPr>
        <p:spPr>
          <a:xfrm>
            <a:off x="838200" y="457200"/>
            <a:ext cx="10515599" cy="5816977"/>
          </a:xfrm>
        </p:spPr>
        <p:txBody>
          <a:bodyPr/>
          <a:lstStyle/>
          <a:p>
            <a:pPr marL="285750" indent="-285750">
              <a:buFont typeface="Wingdings" panose="05000000000000000000" pitchFamily="2" charset="2"/>
              <a:buChar char="q"/>
            </a:pPr>
            <a:r>
              <a:rPr lang="en-IN" sz="1800" dirty="0"/>
              <a:t>MODEL EVALUATION: RMSE, MAE ,R² Score </a:t>
            </a:r>
          </a:p>
          <a:p>
            <a:pPr rtl="0"/>
            <a:r>
              <a:rPr lang="en-IN" sz="1800" b="0" dirty="0" err="1"/>
              <a:t>rmse</a:t>
            </a:r>
            <a:r>
              <a:rPr lang="en-IN" sz="1800" b="0" dirty="0"/>
              <a:t> = </a:t>
            </a:r>
            <a:r>
              <a:rPr lang="en-IN" sz="1800" b="0" dirty="0" err="1"/>
              <a:t>np.sqrt</a:t>
            </a:r>
            <a:r>
              <a:rPr lang="en-IN" sz="1800" b="0" dirty="0"/>
              <a:t>(</a:t>
            </a:r>
            <a:r>
              <a:rPr lang="en-IN" sz="1800" b="0" dirty="0" err="1"/>
              <a:t>mean_squared_error</a:t>
            </a:r>
            <a:r>
              <a:rPr lang="en-IN" sz="1800" b="0" dirty="0"/>
              <a:t>(y, preds))</a:t>
            </a:r>
            <a:br>
              <a:rPr lang="en-IN" sz="1800" b="0" dirty="0"/>
            </a:br>
            <a:r>
              <a:rPr lang="en-IN" sz="1800" b="0" dirty="0" err="1"/>
              <a:t>mae</a:t>
            </a:r>
            <a:r>
              <a:rPr lang="en-IN" sz="1800" b="0" dirty="0"/>
              <a:t> = </a:t>
            </a:r>
            <a:r>
              <a:rPr lang="en-IN" sz="1800" b="0" dirty="0" err="1"/>
              <a:t>mean_absolute_error</a:t>
            </a:r>
            <a:r>
              <a:rPr lang="en-IN" sz="1800" b="0" dirty="0"/>
              <a:t>(y, preds)</a:t>
            </a:r>
            <a:br>
              <a:rPr lang="en-IN" sz="1800" b="0" dirty="0"/>
            </a:br>
            <a:r>
              <a:rPr lang="en-IN" sz="1800" b="0" dirty="0"/>
              <a:t>r2 = r2_score(y, preds)</a:t>
            </a:r>
          </a:p>
          <a:p>
            <a:endParaRPr lang="en-IN" sz="1800" dirty="0"/>
          </a:p>
          <a:p>
            <a:pPr marL="342900" indent="-342900">
              <a:buFont typeface="Wingdings" panose="05000000000000000000" pitchFamily="2" charset="2"/>
              <a:buChar char="q"/>
            </a:pPr>
            <a:r>
              <a:rPr lang="en-US" sz="1800" dirty="0"/>
              <a:t>BEST MODEL SELECTION</a:t>
            </a:r>
          </a:p>
          <a:p>
            <a:pPr rtl="0"/>
            <a:r>
              <a:rPr lang="en-US" sz="1800" b="0" dirty="0" err="1"/>
              <a:t>best_model_name</a:t>
            </a:r>
            <a:r>
              <a:rPr lang="en-US" sz="1800" b="0" dirty="0"/>
              <a:t> = max(results, key=lambda x: results[x]['R² Score'])</a:t>
            </a:r>
          </a:p>
          <a:p>
            <a:pPr marL="285750" indent="-285750">
              <a:buFont typeface="Arial" panose="020B0604020202020204" pitchFamily="34" charset="0"/>
              <a:buChar char="•"/>
            </a:pPr>
            <a:r>
              <a:rPr lang="en-US" sz="1800" b="0" dirty="0"/>
              <a:t>Automatically selects best model</a:t>
            </a:r>
          </a:p>
          <a:p>
            <a:endParaRPr lang="en-IN" sz="1800" dirty="0"/>
          </a:p>
          <a:p>
            <a:pPr marL="285750" indent="-285750">
              <a:buFont typeface="Wingdings" panose="05000000000000000000" pitchFamily="2" charset="2"/>
              <a:buChar char="q"/>
            </a:pPr>
            <a:r>
              <a:rPr lang="en-IN" sz="1800" dirty="0"/>
              <a:t>MODEL SAVING</a:t>
            </a:r>
          </a:p>
          <a:p>
            <a:pPr rtl="0"/>
            <a:r>
              <a:rPr lang="en-IN" sz="1800" b="0" dirty="0" err="1"/>
              <a:t>joblib.dump</a:t>
            </a:r>
            <a:r>
              <a:rPr lang="en-IN" sz="1800" b="0" dirty="0"/>
              <a:t>(model, '</a:t>
            </a:r>
            <a:r>
              <a:rPr lang="en-IN" sz="1800" b="0" dirty="0" err="1"/>
              <a:t>linear_model.pkl</a:t>
            </a:r>
            <a:r>
              <a:rPr lang="en-IN" sz="1800" b="0" dirty="0"/>
              <a:t>')</a:t>
            </a:r>
            <a:br>
              <a:rPr lang="en-IN" sz="1800" b="0" dirty="0"/>
            </a:br>
            <a:r>
              <a:rPr lang="en-IN" sz="1800" b="0" dirty="0" err="1"/>
              <a:t>model.save</a:t>
            </a:r>
            <a:r>
              <a:rPr lang="en-IN" sz="1800" b="0" dirty="0"/>
              <a:t>('lstm_model.h5’)</a:t>
            </a:r>
          </a:p>
          <a:p>
            <a:pPr rtl="0"/>
            <a:endParaRPr lang="en-IN" sz="1800" b="0" dirty="0"/>
          </a:p>
          <a:p>
            <a:pPr marL="285750" lvl="0" indent="-285750">
              <a:buFont typeface="Arial" panose="020B0604020202020204" pitchFamily="34" charset="0"/>
              <a:buChar char="•"/>
            </a:pPr>
            <a:r>
              <a:rPr lang="en-IN" sz="1800" b="0" dirty="0"/>
              <a:t>Reuse without retraining. </a:t>
            </a:r>
          </a:p>
          <a:p>
            <a:pPr marL="285750" lvl="0" indent="-285750">
              <a:buFont typeface="Arial" panose="020B0604020202020204" pitchFamily="34" charset="0"/>
              <a:buChar char="•"/>
            </a:pPr>
            <a:r>
              <a:rPr lang="en-IN" sz="1800" b="0" dirty="0"/>
              <a:t>Best model config is saved in: models/</a:t>
            </a:r>
            <a:r>
              <a:rPr lang="en-IN" sz="1800" b="0" dirty="0" err="1"/>
              <a:t>best_model_config.json</a:t>
            </a:r>
            <a:endParaRPr lang="en-IN" sz="1800" b="0" dirty="0"/>
          </a:p>
          <a:p>
            <a:pPr marL="285750" lvl="0" indent="-285750">
              <a:buFont typeface="Arial" panose="020B0604020202020204" pitchFamily="34" charset="0"/>
              <a:buChar char="•"/>
            </a:pPr>
            <a:r>
              <a:rPr lang="en-IN" sz="1800" b="0" dirty="0"/>
              <a:t>Linear model → .</a:t>
            </a:r>
            <a:r>
              <a:rPr lang="en-IN" sz="1800" b="0" dirty="0" err="1"/>
              <a:t>pkl</a:t>
            </a:r>
            <a:r>
              <a:rPr lang="en-IN" sz="1800" b="0" dirty="0"/>
              <a:t> file </a:t>
            </a:r>
          </a:p>
          <a:p>
            <a:pPr marL="285750" lvl="0" indent="-285750">
              <a:buFont typeface="Arial" panose="020B0604020202020204" pitchFamily="34" charset="0"/>
              <a:buChar char="•"/>
            </a:pPr>
            <a:r>
              <a:rPr lang="en-IN" sz="1800" b="0" dirty="0"/>
              <a:t>ANN &amp; LSTM → .h5 file </a:t>
            </a:r>
          </a:p>
          <a:p>
            <a:pPr marL="285750" lvl="0" indent="-285750">
              <a:buFont typeface="Arial" panose="020B0604020202020204" pitchFamily="34" charset="0"/>
              <a:buChar char="•"/>
            </a:pPr>
            <a:r>
              <a:rPr lang="en-IN" sz="1800" b="0" dirty="0"/>
              <a:t>Scalers &amp; encoders → .</a:t>
            </a:r>
            <a:r>
              <a:rPr lang="en-IN" sz="1800" b="0" dirty="0" err="1"/>
              <a:t>pkl</a:t>
            </a:r>
            <a:r>
              <a:rPr lang="en-IN" sz="1800" b="0" dirty="0"/>
              <a:t> </a:t>
            </a:r>
          </a:p>
          <a:p>
            <a:pPr marL="285750" lvl="0" indent="-285750">
              <a:buFont typeface="Arial" panose="020B0604020202020204" pitchFamily="34" charset="0"/>
              <a:buChar char="•"/>
            </a:pPr>
            <a:r>
              <a:rPr lang="en-IN" sz="1800" b="0" dirty="0"/>
              <a:t>This allows reuse without retraining.</a:t>
            </a:r>
          </a:p>
          <a:p>
            <a:endParaRPr lang="en-IN" sz="1800" dirty="0"/>
          </a:p>
          <a:p>
            <a:endParaRPr lang="en-IN" sz="1800" dirty="0"/>
          </a:p>
        </p:txBody>
      </p:sp>
    </p:spTree>
    <p:extLst>
      <p:ext uri="{BB962C8B-B14F-4D97-AF65-F5344CB8AC3E}">
        <p14:creationId xmlns:p14="http://schemas.microsoft.com/office/powerpoint/2010/main" val="1721802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5869B5-127D-03DD-A222-1F84D058D83B}"/>
              </a:ext>
            </a:extLst>
          </p:cNvPr>
          <p:cNvSpPr>
            <a:spLocks noGrp="1"/>
          </p:cNvSpPr>
          <p:nvPr>
            <p:ph type="body" idx="1"/>
          </p:nvPr>
        </p:nvSpPr>
        <p:spPr>
          <a:xfrm>
            <a:off x="1143000" y="228600"/>
            <a:ext cx="10591799" cy="6340197"/>
          </a:xfrm>
        </p:spPr>
        <p:txBody>
          <a:bodyPr/>
          <a:lstStyle/>
          <a:p>
            <a:pPr marL="285750" lvl="0" indent="-285750">
              <a:buFont typeface="Wingdings" panose="05000000000000000000" pitchFamily="2" charset="2"/>
              <a:buChar char="q"/>
            </a:pPr>
            <a:r>
              <a:rPr lang="en-IN" sz="1800" dirty="0"/>
              <a:t>Inference (Prediction Logic)</a:t>
            </a:r>
          </a:p>
          <a:p>
            <a:pPr lvl="0"/>
            <a:r>
              <a:rPr lang="en-IN" sz="1800" b="0" dirty="0" err="1"/>
              <a:t>df_input</a:t>
            </a:r>
            <a:r>
              <a:rPr lang="en-IN" sz="1800" b="0" dirty="0"/>
              <a:t> = </a:t>
            </a:r>
            <a:r>
              <a:rPr lang="en-IN" sz="1800" b="0" dirty="0" err="1"/>
              <a:t>pd.DataFrame</a:t>
            </a:r>
            <a:r>
              <a:rPr lang="en-IN" sz="1800" b="0" dirty="0"/>
              <a:t>([</a:t>
            </a:r>
            <a:r>
              <a:rPr lang="en-IN" sz="1800" b="0" dirty="0" err="1"/>
              <a:t>input_data</a:t>
            </a:r>
            <a:r>
              <a:rPr lang="en-IN" sz="1800" b="0" dirty="0"/>
              <a:t>])</a:t>
            </a:r>
          </a:p>
          <a:p>
            <a:pPr lvl="0"/>
            <a:r>
              <a:rPr lang="en-IN" sz="1800" b="0" dirty="0" err="1"/>
              <a:t>df_processed</a:t>
            </a:r>
            <a:r>
              <a:rPr lang="en-IN" sz="1800" b="0" dirty="0"/>
              <a:t> = </a:t>
            </a:r>
            <a:r>
              <a:rPr lang="en-IN" sz="1800" b="0" dirty="0" err="1"/>
              <a:t>preprocess_data</a:t>
            </a:r>
            <a:r>
              <a:rPr lang="en-IN" sz="1800" b="0" dirty="0"/>
              <a:t>(</a:t>
            </a:r>
            <a:r>
              <a:rPr lang="en-IN" sz="1800" b="0" dirty="0" err="1"/>
              <a:t>df_input</a:t>
            </a:r>
            <a:r>
              <a:rPr lang="en-IN" sz="1800" b="0" dirty="0"/>
              <a:t>, </a:t>
            </a:r>
            <a:r>
              <a:rPr lang="en-IN" sz="1800" b="0" dirty="0" err="1"/>
              <a:t>is_training</a:t>
            </a:r>
            <a:r>
              <a:rPr lang="en-IN" sz="1800" b="0" dirty="0"/>
              <a:t>=False)</a:t>
            </a:r>
          </a:p>
          <a:p>
            <a:pPr lvl="0"/>
            <a:r>
              <a:rPr lang="en-IN" sz="1800" b="0" dirty="0"/>
              <a:t>prediction = </a:t>
            </a:r>
            <a:r>
              <a:rPr lang="en-IN" sz="1800" b="0" dirty="0" err="1"/>
              <a:t>model.predict</a:t>
            </a:r>
            <a:r>
              <a:rPr lang="en-IN" sz="1800" b="0" dirty="0"/>
              <a:t>(</a:t>
            </a:r>
            <a:r>
              <a:rPr lang="en-IN" sz="1800" b="0" dirty="0" err="1"/>
              <a:t>df_processed.values</a:t>
            </a:r>
            <a:r>
              <a:rPr lang="en-IN" sz="1800" b="0" dirty="0"/>
              <a:t>)</a:t>
            </a:r>
          </a:p>
          <a:p>
            <a:pPr lvl="0"/>
            <a:endParaRPr lang="en-IN" sz="1600" dirty="0"/>
          </a:p>
          <a:p>
            <a:pPr marL="285750" indent="-285750">
              <a:buFont typeface="Wingdings" panose="05000000000000000000" pitchFamily="2" charset="2"/>
              <a:buChar char="v"/>
            </a:pPr>
            <a:r>
              <a:rPr lang="en-IN" sz="1800" b="0" dirty="0"/>
              <a:t>The inference module performs:</a:t>
            </a:r>
          </a:p>
          <a:p>
            <a:pPr marL="285750" lvl="0" indent="-285750">
              <a:buFont typeface="Arial" panose="020B0604020202020204" pitchFamily="34" charset="0"/>
              <a:buChar char="•"/>
            </a:pPr>
            <a:r>
              <a:rPr lang="en-IN" sz="1800" b="0" dirty="0"/>
              <a:t>Load best model from JSON config </a:t>
            </a:r>
          </a:p>
          <a:p>
            <a:pPr marL="285750" lvl="0" indent="-285750">
              <a:buFont typeface="Arial" panose="020B0604020202020204" pitchFamily="34" charset="0"/>
              <a:buChar char="•"/>
            </a:pPr>
            <a:r>
              <a:rPr lang="en-IN" sz="1800" b="0" dirty="0"/>
              <a:t>Convert user input into </a:t>
            </a:r>
            <a:r>
              <a:rPr lang="en-IN" sz="1800" b="0" dirty="0" err="1"/>
              <a:t>dataframe</a:t>
            </a:r>
            <a:r>
              <a:rPr lang="en-IN" sz="1800" b="0" dirty="0"/>
              <a:t> </a:t>
            </a:r>
          </a:p>
          <a:p>
            <a:pPr marL="285750" lvl="0" indent="-285750">
              <a:buFont typeface="Arial" panose="020B0604020202020204" pitchFamily="34" charset="0"/>
              <a:buChar char="•"/>
            </a:pPr>
            <a:r>
              <a:rPr lang="en-IN" sz="1800" b="0" dirty="0"/>
              <a:t>Apply preprocessing (same as training) </a:t>
            </a:r>
          </a:p>
          <a:p>
            <a:pPr marL="285750" lvl="0" indent="-285750">
              <a:buFont typeface="Arial" panose="020B0604020202020204" pitchFamily="34" charset="0"/>
              <a:buChar char="•"/>
            </a:pPr>
            <a:r>
              <a:rPr lang="en-IN" sz="1800" b="0" dirty="0"/>
              <a:t>Handle model-specific input (LSTM sequence) </a:t>
            </a:r>
          </a:p>
          <a:p>
            <a:pPr marL="285750" lvl="0" indent="-285750">
              <a:buFont typeface="Arial" panose="020B0604020202020204" pitchFamily="34" charset="0"/>
              <a:buChar char="•"/>
            </a:pPr>
            <a:r>
              <a:rPr lang="en-IN" sz="1800" b="0" dirty="0"/>
              <a:t>Generate prediction </a:t>
            </a:r>
          </a:p>
          <a:p>
            <a:pPr lvl="0"/>
            <a:endParaRPr lang="en-IN" sz="1800" b="0" dirty="0"/>
          </a:p>
          <a:p>
            <a:pPr marL="285750" lvl="0" indent="-285750">
              <a:buFont typeface="Wingdings" panose="05000000000000000000" pitchFamily="2" charset="2"/>
              <a:buChar char="v"/>
            </a:pPr>
            <a:r>
              <a:rPr lang="en-IN" sz="1800" b="0" dirty="0"/>
              <a:t>Output:</a:t>
            </a:r>
          </a:p>
          <a:p>
            <a:pPr lvl="0"/>
            <a:r>
              <a:rPr lang="en-IN" sz="1800" b="0" dirty="0"/>
              <a:t>Demand (MW) </a:t>
            </a:r>
          </a:p>
          <a:p>
            <a:pPr lvl="0"/>
            <a:r>
              <a:rPr lang="en-IN" sz="1800" b="0" dirty="0"/>
              <a:t>Confidence score </a:t>
            </a:r>
          </a:p>
          <a:p>
            <a:pPr lvl="0"/>
            <a:endParaRPr lang="en-IN" sz="1800" b="0" dirty="0"/>
          </a:p>
          <a:p>
            <a:pPr marL="285750" lvl="0" indent="-285750">
              <a:buFont typeface="Wingdings" panose="05000000000000000000" pitchFamily="2" charset="2"/>
              <a:buChar char="q"/>
            </a:pPr>
            <a:r>
              <a:rPr lang="en-IN" sz="1800" dirty="0"/>
              <a:t>Running the Application</a:t>
            </a:r>
          </a:p>
          <a:p>
            <a:r>
              <a:rPr lang="en-IN" sz="1800" b="0" dirty="0"/>
              <a:t>Start the Streamlit app:</a:t>
            </a:r>
          </a:p>
          <a:p>
            <a:pPr marL="285750" lvl="0" indent="-285750">
              <a:buFont typeface="Wingdings" panose="05000000000000000000" pitchFamily="2" charset="2"/>
              <a:buChar char="Ø"/>
            </a:pPr>
            <a:r>
              <a:rPr lang="en-IN" sz="1800" b="0" dirty="0" err="1"/>
              <a:t>streamlit</a:t>
            </a:r>
            <a:r>
              <a:rPr lang="en-IN" sz="1800" b="0" dirty="0"/>
              <a:t> run app.py</a:t>
            </a:r>
          </a:p>
          <a:p>
            <a:r>
              <a:rPr lang="en-IN" sz="1800" b="0" dirty="0"/>
              <a:t>Opens browser with:</a:t>
            </a:r>
          </a:p>
          <a:p>
            <a:pPr marL="285750" lvl="0" indent="-285750">
              <a:buFont typeface="Arial" panose="020B0604020202020204" pitchFamily="34" charset="0"/>
              <a:buChar char="•"/>
            </a:pPr>
            <a:r>
              <a:rPr lang="en-IN" sz="1800" b="0" dirty="0"/>
              <a:t>Dashboard (graphs, trends) </a:t>
            </a:r>
          </a:p>
          <a:p>
            <a:pPr marL="285750" lvl="0" indent="-285750">
              <a:buFont typeface="Arial" panose="020B0604020202020204" pitchFamily="34" charset="0"/>
              <a:buChar char="•"/>
            </a:pPr>
            <a:r>
              <a:rPr lang="en-IN" sz="1800" b="0" dirty="0"/>
              <a:t>Prediction page (user input → output) </a:t>
            </a:r>
          </a:p>
          <a:p>
            <a:pPr marL="285750" lvl="0" indent="-285750">
              <a:buFont typeface="Arial" panose="020B0604020202020204" pitchFamily="34" charset="0"/>
              <a:buChar char="•"/>
            </a:pPr>
            <a:r>
              <a:rPr lang="en-IN" sz="1800" b="0" dirty="0"/>
              <a:t>Model evaluation page </a:t>
            </a:r>
          </a:p>
        </p:txBody>
      </p:sp>
    </p:spTree>
    <p:extLst>
      <p:ext uri="{BB962C8B-B14F-4D97-AF65-F5344CB8AC3E}">
        <p14:creationId xmlns:p14="http://schemas.microsoft.com/office/powerpoint/2010/main" val="4002235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6BDE4F8-4367-E4FD-6DBC-E625A6DB8B8A}"/>
              </a:ext>
            </a:extLst>
          </p:cNvPr>
          <p:cNvSpPr>
            <a:spLocks noGrp="1"/>
          </p:cNvSpPr>
          <p:nvPr>
            <p:ph type="body" idx="1"/>
          </p:nvPr>
        </p:nvSpPr>
        <p:spPr>
          <a:xfrm>
            <a:off x="762000" y="457200"/>
            <a:ext cx="4572000" cy="6093976"/>
          </a:xfrm>
        </p:spPr>
        <p:txBody>
          <a:bodyPr/>
          <a:lstStyle/>
          <a:p>
            <a:pPr marL="285750" lvl="0" indent="-285750">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User Interaction Flow</a:t>
            </a:r>
          </a:p>
          <a:p>
            <a:pPr lvl="0"/>
            <a:endParaRPr lang="en-IN" sz="1800"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User enters inputs: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Time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Weather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Number of EVs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Capacity </a:t>
            </a:r>
            <a:r>
              <a:rPr lang="en-IN" sz="1800" dirty="0">
                <a:latin typeface="Times New Roman" panose="02020603050405020304" pitchFamily="18" charset="0"/>
                <a:cs typeface="Times New Roman" panose="02020603050405020304" pitchFamily="18" charset="0"/>
              </a:rPr>
              <a:t> </a:t>
            </a:r>
          </a:p>
          <a:p>
            <a:pPr marL="285750" lvl="0" indent="-285750">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System: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Preprocesses input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Loads best model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Predicts demand </a:t>
            </a:r>
          </a:p>
          <a:p>
            <a:pPr marL="285750" lvl="0" indent="-285750">
              <a:buFont typeface="Wingdings" panose="05000000000000000000" pitchFamily="2" charset="2"/>
              <a:buChar char="v"/>
            </a:pPr>
            <a:r>
              <a:rPr lang="en-IN" sz="1800" dirty="0">
                <a:latin typeface="Times New Roman" panose="02020603050405020304" pitchFamily="18" charset="0"/>
                <a:cs typeface="Times New Roman" panose="02020603050405020304" pitchFamily="18" charset="0"/>
              </a:rPr>
              <a:t>Output: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Predicted demand (MW)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Confidence (%) </a:t>
            </a: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Warning if capacity exceeded</a:t>
            </a:r>
          </a:p>
          <a:p>
            <a:pPr marL="742950" lvl="1"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r>
              <a:rPr lang="en-IN" sz="1800" dirty="0"/>
              <a:t>Dashboard: </a:t>
            </a:r>
          </a:p>
          <a:p>
            <a:pPr algn="just"/>
            <a:r>
              <a:rPr lang="en-US" sz="1800" b="0" dirty="0"/>
              <a:t>	The dashboard provides a visual overview of EV energy demand using graphs and maps. It helps users understand demand patterns across time and regions for better analysis and decision-making.</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9C773AC-67DD-ACDD-7A0B-E68B9EC67A0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6065" y="164783"/>
            <a:ext cx="5853430" cy="2654617"/>
          </a:xfrm>
          <a:prstGeom prst="rect">
            <a:avLst/>
          </a:prstGeom>
          <a:noFill/>
          <a:ln>
            <a:noFill/>
          </a:ln>
        </p:spPr>
      </p:pic>
      <p:pic>
        <p:nvPicPr>
          <p:cNvPr id="5" name="Picture 4">
            <a:extLst>
              <a:ext uri="{FF2B5EF4-FFF2-40B4-BE49-F238E27FC236}">
                <a16:creationId xmlns:a16="http://schemas.microsoft.com/office/drawing/2014/main" id="{523BCD55-779C-9E09-C8B5-19CE932AA21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8019" y="3124200"/>
            <a:ext cx="5821475" cy="3124200"/>
          </a:xfrm>
          <a:prstGeom prst="rect">
            <a:avLst/>
          </a:prstGeom>
          <a:noFill/>
          <a:ln>
            <a:noFill/>
          </a:ln>
        </p:spPr>
      </p:pic>
    </p:spTree>
    <p:extLst>
      <p:ext uri="{BB962C8B-B14F-4D97-AF65-F5344CB8AC3E}">
        <p14:creationId xmlns:p14="http://schemas.microsoft.com/office/powerpoint/2010/main" val="1496765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47D7C7-9AD7-F488-54D4-E719958164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28600"/>
            <a:ext cx="5334000" cy="4572000"/>
          </a:xfrm>
          <a:prstGeom prst="rect">
            <a:avLst/>
          </a:prstGeom>
          <a:noFill/>
          <a:ln>
            <a:noFill/>
          </a:ln>
        </p:spPr>
      </p:pic>
      <p:pic>
        <p:nvPicPr>
          <p:cNvPr id="4" name="Picture 3">
            <a:extLst>
              <a:ext uri="{FF2B5EF4-FFF2-40B4-BE49-F238E27FC236}">
                <a16:creationId xmlns:a16="http://schemas.microsoft.com/office/drawing/2014/main" id="{E7C5EBAB-2B32-DC79-D620-4F23EFD893A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28600"/>
            <a:ext cx="5334000" cy="4572000"/>
          </a:xfrm>
          <a:prstGeom prst="rect">
            <a:avLst/>
          </a:prstGeom>
          <a:noFill/>
          <a:ln>
            <a:noFill/>
          </a:ln>
        </p:spPr>
      </p:pic>
      <p:sp>
        <p:nvSpPr>
          <p:cNvPr id="6" name="TextBox 5">
            <a:extLst>
              <a:ext uri="{FF2B5EF4-FFF2-40B4-BE49-F238E27FC236}">
                <a16:creationId xmlns:a16="http://schemas.microsoft.com/office/drawing/2014/main" id="{ED52196C-E1EA-381D-92A1-A0025B53CC10}"/>
              </a:ext>
            </a:extLst>
          </p:cNvPr>
          <p:cNvSpPr txBox="1"/>
          <p:nvPr/>
        </p:nvSpPr>
        <p:spPr>
          <a:xfrm>
            <a:off x="457200" y="4875074"/>
            <a:ext cx="5410201" cy="1754326"/>
          </a:xfrm>
          <a:prstGeom prst="rect">
            <a:avLst/>
          </a:prstGeom>
          <a:noFill/>
        </p:spPr>
        <p:txBody>
          <a:bodyPr wrap="square">
            <a:spAutoFit/>
          </a:bodyPr>
          <a:lstStyle/>
          <a:p>
            <a:pPr algn="just">
              <a:buNone/>
            </a:pPr>
            <a:r>
              <a:rPr lang="en-IN" b="1" dirty="0">
                <a:effectLst/>
                <a:latin typeface="Times New Roman" panose="02020603050405020304" pitchFamily="18" charset="0"/>
                <a:ea typeface="Times New Roman" panose="02020603050405020304" pitchFamily="18" charset="0"/>
              </a:rPr>
              <a:t>Prediction page:</a:t>
            </a:r>
          </a:p>
          <a:p>
            <a:pPr algn="just">
              <a:buNone/>
            </a:pPr>
            <a:r>
              <a:rPr lang="en-IN" dirty="0">
                <a:effectLst/>
                <a:latin typeface="Times New Roman" panose="02020603050405020304" pitchFamily="18" charset="0"/>
                <a:ea typeface="Times New Roman" panose="02020603050405020304" pitchFamily="18" charset="0"/>
              </a:rPr>
              <a:t>	The prediction page allows users to input parameters like location, time, weather, and EV count to estimate energy demand. It uses the trained model to generate real-time predictions along with confidence levels.</a:t>
            </a:r>
          </a:p>
        </p:txBody>
      </p:sp>
      <p:sp>
        <p:nvSpPr>
          <p:cNvPr id="8" name="TextBox 7">
            <a:extLst>
              <a:ext uri="{FF2B5EF4-FFF2-40B4-BE49-F238E27FC236}">
                <a16:creationId xmlns:a16="http://schemas.microsoft.com/office/drawing/2014/main" id="{91AEB9F3-B9F7-C102-F07C-34F38CB1B417}"/>
              </a:ext>
            </a:extLst>
          </p:cNvPr>
          <p:cNvSpPr txBox="1"/>
          <p:nvPr/>
        </p:nvSpPr>
        <p:spPr>
          <a:xfrm>
            <a:off x="6172200" y="4875074"/>
            <a:ext cx="5410201" cy="1754326"/>
          </a:xfrm>
          <a:prstGeom prst="rect">
            <a:avLst/>
          </a:prstGeom>
          <a:noFill/>
        </p:spPr>
        <p:txBody>
          <a:bodyPr wrap="square">
            <a:spAutoFit/>
          </a:bodyPr>
          <a:lstStyle/>
          <a:p>
            <a:pPr>
              <a:buNone/>
            </a:pPr>
            <a:r>
              <a:rPr lang="en-IN" b="1" dirty="0">
                <a:effectLst/>
                <a:latin typeface="Times New Roman" panose="02020603050405020304" pitchFamily="18" charset="0"/>
                <a:ea typeface="Times New Roman" panose="02020603050405020304" pitchFamily="18" charset="0"/>
              </a:rPr>
              <a:t>Evaluation page: </a:t>
            </a:r>
          </a:p>
          <a:p>
            <a:pPr algn="just">
              <a:buNone/>
            </a:pPr>
            <a:r>
              <a:rPr lang="en-US" dirty="0">
                <a:effectLst/>
                <a:latin typeface="Times New Roman" panose="02020603050405020304" pitchFamily="18" charset="0"/>
                <a:ea typeface="Times New Roman" panose="02020603050405020304" pitchFamily="18" charset="0"/>
              </a:rPr>
              <a:t>	The evaluation page compares the performance of different models such as Linear Regression, ANN, and LSTM. It displays metrics like MAE, RMSE, and R² to identify the best model for accurate EV demand prediction.</a:t>
            </a:r>
            <a:endParaRPr lang="en-IN"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37996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1B88B6F-8562-D780-5925-0B9CCBDCCD87}"/>
              </a:ext>
            </a:extLst>
          </p:cNvPr>
          <p:cNvSpPr>
            <a:spLocks noGrp="1"/>
          </p:cNvSpPr>
          <p:nvPr>
            <p:ph type="body" idx="1"/>
          </p:nvPr>
        </p:nvSpPr>
        <p:spPr>
          <a:xfrm>
            <a:off x="533400" y="129891"/>
            <a:ext cx="10896600" cy="6598217"/>
          </a:xfrm>
        </p:spPr>
        <p:txBody>
          <a:bodyPr/>
          <a:lstStyle/>
          <a:p>
            <a:pPr algn="just">
              <a:lnSpc>
                <a:spcPct val="150000"/>
              </a:lnSpc>
            </a:pPr>
            <a:r>
              <a:rPr lang="en-IN" sz="1800" dirty="0"/>
              <a:t>RESULTS AND DISCUSSIONS</a:t>
            </a:r>
          </a:p>
          <a:p>
            <a:pPr algn="just">
              <a:lnSpc>
                <a:spcPct val="150000"/>
              </a:lnSpc>
            </a:pPr>
            <a:r>
              <a:rPr lang="en-IN" sz="1800" b="0" dirty="0"/>
              <a:t>	The system was trained using Linear Regression, ANN, and LSTM models for predicting EV energy demand. The models were evaluated using RMSE, MAE, and R² score.</a:t>
            </a:r>
          </a:p>
          <a:p>
            <a:pPr algn="just">
              <a:lnSpc>
                <a:spcPct val="150000"/>
              </a:lnSpc>
            </a:pPr>
            <a:r>
              <a:rPr lang="en-IN" sz="1800" b="0" dirty="0"/>
              <a:t>	The Linear Regression model showed moderate performance as it cannot capture complex relationships in the data. The ANN model improved accuracy by handling nonlinear patterns. However, the LSTM model performed the best as it effectively captures time-based variations in EV charging demand.</a:t>
            </a:r>
          </a:p>
          <a:p>
            <a:pPr algn="just">
              <a:lnSpc>
                <a:spcPct val="150000"/>
              </a:lnSpc>
            </a:pPr>
            <a:r>
              <a:rPr lang="en-IN" sz="1800" b="0" dirty="0"/>
              <a:t>	Based on the evaluation, the LSTM model was selected as the best model for deployment. The results indicate that the system can accurately predict EV energy demand and support efficient energy management.</a:t>
            </a:r>
          </a:p>
          <a:p>
            <a:pPr algn="just">
              <a:lnSpc>
                <a:spcPct val="150000"/>
              </a:lnSpc>
            </a:pPr>
            <a:endParaRPr lang="en-IN" sz="1600" b="0" dirty="0"/>
          </a:p>
          <a:p>
            <a:pPr algn="just">
              <a:lnSpc>
                <a:spcPct val="150000"/>
              </a:lnSpc>
            </a:pPr>
            <a:r>
              <a:rPr lang="en-IN" sz="1800" dirty="0"/>
              <a:t>TESTING</a:t>
            </a:r>
          </a:p>
          <a:p>
            <a:pPr algn="just">
              <a:lnSpc>
                <a:spcPct val="150000"/>
              </a:lnSpc>
            </a:pPr>
            <a:r>
              <a:rPr lang="en-IN" sz="1800" b="0" dirty="0"/>
              <a:t>Testing was carried out to ensure the proper functioning of the system at all stages. The following aspects were tested:</a:t>
            </a:r>
          </a:p>
          <a:p>
            <a:pPr marL="285750" lvl="0" indent="-285750" algn="just">
              <a:lnSpc>
                <a:spcPct val="150000"/>
              </a:lnSpc>
              <a:buFont typeface="Arial" panose="020B0604020202020204" pitchFamily="34" charset="0"/>
              <a:buChar char="•"/>
            </a:pPr>
            <a:r>
              <a:rPr lang="en-IN" sz="1800" b="0" dirty="0"/>
              <a:t>Correct preprocessing of data including handling missing values and feature generation</a:t>
            </a:r>
          </a:p>
          <a:p>
            <a:pPr marL="285750" lvl="0" indent="-285750" algn="just">
              <a:lnSpc>
                <a:spcPct val="150000"/>
              </a:lnSpc>
              <a:buFont typeface="Arial" panose="020B0604020202020204" pitchFamily="34" charset="0"/>
              <a:buChar char="•"/>
            </a:pPr>
            <a:r>
              <a:rPr lang="en-IN" sz="1800" b="0" dirty="0"/>
              <a:t>Successful training and evaluation of all models</a:t>
            </a:r>
          </a:p>
          <a:p>
            <a:pPr marL="285750" lvl="0" indent="-285750" algn="just">
              <a:lnSpc>
                <a:spcPct val="150000"/>
              </a:lnSpc>
              <a:buFont typeface="Arial" panose="020B0604020202020204" pitchFamily="34" charset="0"/>
              <a:buChar char="•"/>
            </a:pPr>
            <a:r>
              <a:rPr lang="en-IN" sz="1800" b="0" dirty="0"/>
              <a:t>Accurate selection of the best model based on performance metrics</a:t>
            </a:r>
          </a:p>
          <a:p>
            <a:pPr marL="285750" lvl="0" indent="-285750" algn="just">
              <a:lnSpc>
                <a:spcPct val="150000"/>
              </a:lnSpc>
              <a:buFont typeface="Arial" panose="020B0604020202020204" pitchFamily="34" charset="0"/>
              <a:buChar char="•"/>
            </a:pPr>
            <a:r>
              <a:rPr lang="en-IN" sz="1800" b="0" dirty="0"/>
              <a:t>Proper functioning of the prediction module during inference</a:t>
            </a:r>
          </a:p>
          <a:p>
            <a:pPr marL="285750" lvl="0" indent="-285750" algn="just">
              <a:lnSpc>
                <a:spcPct val="150000"/>
              </a:lnSpc>
              <a:buFont typeface="Arial" panose="020B0604020202020204" pitchFamily="34" charset="0"/>
              <a:buChar char="•"/>
            </a:pPr>
            <a:r>
              <a:rPr lang="en-IN" sz="1800" b="0" dirty="0"/>
              <a:t>Smooth working of the Streamlit interface and correct display of results</a:t>
            </a:r>
          </a:p>
        </p:txBody>
      </p:sp>
    </p:spTree>
    <p:extLst>
      <p:ext uri="{BB962C8B-B14F-4D97-AF65-F5344CB8AC3E}">
        <p14:creationId xmlns:p14="http://schemas.microsoft.com/office/powerpoint/2010/main" val="3846654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D9289B6-E6E5-5A88-A115-861F11180F9B}"/>
              </a:ext>
            </a:extLst>
          </p:cNvPr>
          <p:cNvSpPr>
            <a:spLocks noGrp="1"/>
          </p:cNvSpPr>
          <p:nvPr>
            <p:ph type="body" idx="1"/>
          </p:nvPr>
        </p:nvSpPr>
        <p:spPr>
          <a:xfrm>
            <a:off x="381000" y="152400"/>
            <a:ext cx="11098277" cy="6598217"/>
          </a:xfrm>
        </p:spPr>
        <p:txBody>
          <a:bodyPr/>
          <a:lstStyle/>
          <a:p>
            <a:r>
              <a:rPr lang="en-IN" sz="1800" dirty="0"/>
              <a:t>CONCLUSION</a:t>
            </a:r>
          </a:p>
          <a:p>
            <a:pPr>
              <a:lnSpc>
                <a:spcPct val="150000"/>
              </a:lnSpc>
            </a:pPr>
            <a:r>
              <a:rPr lang="en-IN" sz="1800" b="0" dirty="0"/>
              <a:t>	The developed EV Energy Demand Prediction System provides an effective and intelligent solution for forecasting electric vehicle charging demand using machine learning and deep learning techniques. The system integrates key stages such as data preprocessing, feature engineering, model training, evaluation, and real-time prediction into a single streamlined framework.</a:t>
            </a:r>
          </a:p>
          <a:p>
            <a:pPr>
              <a:lnSpc>
                <a:spcPct val="150000"/>
              </a:lnSpc>
            </a:pPr>
            <a:r>
              <a:rPr lang="en-IN" sz="1800" b="0" dirty="0"/>
              <a:t>	By implementing and comparing multiple models, including Linear Regression, ANN, and LSTM, the system ensures higher prediction accuracy through automatic model selection. The use of LSTM significantly improves performance by capturing temporal and sequential patterns in energy demand data.</a:t>
            </a:r>
          </a:p>
          <a:p>
            <a:pPr>
              <a:lnSpc>
                <a:spcPct val="150000"/>
              </a:lnSpc>
            </a:pPr>
            <a:r>
              <a:rPr lang="en-IN" sz="1800" b="0" dirty="0"/>
              <a:t>	The system also offers a user-friendly interface for easy interaction and visualization, making it suitable for practical applications. Overall, the solution is efficient, scalable, and reliable, contributing to better grid load management and optimized EV charging infrastructure.</a:t>
            </a:r>
          </a:p>
          <a:p>
            <a:r>
              <a:rPr lang="en-IN" sz="1800" dirty="0"/>
              <a:t> </a:t>
            </a:r>
          </a:p>
          <a:p>
            <a:r>
              <a:rPr lang="en-IN" sz="1800" dirty="0"/>
              <a:t>FUTURE SCOPE</a:t>
            </a:r>
          </a:p>
          <a:p>
            <a:pPr marL="285750" lvl="0" indent="-285750">
              <a:lnSpc>
                <a:spcPct val="150000"/>
              </a:lnSpc>
              <a:buFont typeface="Arial" panose="020B0604020202020204" pitchFamily="34" charset="0"/>
              <a:buChar char="•"/>
            </a:pPr>
            <a:r>
              <a:rPr lang="en-IN" sz="1800" b="0" dirty="0"/>
              <a:t>Integration with real-time IoT data from charging stations</a:t>
            </a:r>
          </a:p>
          <a:p>
            <a:pPr marL="285750" lvl="0" indent="-285750">
              <a:lnSpc>
                <a:spcPct val="150000"/>
              </a:lnSpc>
              <a:buFont typeface="Arial" panose="020B0604020202020204" pitchFamily="34" charset="0"/>
              <a:buChar char="•"/>
            </a:pPr>
            <a:r>
              <a:rPr lang="en-IN" sz="1800" b="0" dirty="0"/>
              <a:t>Deployment on cloud platforms for scalability</a:t>
            </a:r>
          </a:p>
          <a:p>
            <a:pPr marL="285750" lvl="0" indent="-285750">
              <a:lnSpc>
                <a:spcPct val="150000"/>
              </a:lnSpc>
              <a:buFont typeface="Arial" panose="020B0604020202020204" pitchFamily="34" charset="0"/>
              <a:buChar char="•"/>
            </a:pPr>
            <a:r>
              <a:rPr lang="en-IN" sz="1800" b="0" dirty="0"/>
              <a:t>Use of advanced deep learning models for better accuracy</a:t>
            </a:r>
          </a:p>
          <a:p>
            <a:pPr marL="285750" lvl="0" indent="-285750">
              <a:lnSpc>
                <a:spcPct val="150000"/>
              </a:lnSpc>
              <a:buFont typeface="Arial" panose="020B0604020202020204" pitchFamily="34" charset="0"/>
              <a:buChar char="•"/>
            </a:pPr>
            <a:r>
              <a:rPr lang="en-IN" sz="1800" b="0" dirty="0"/>
              <a:t>Improvement in LSTM input sequences for more realistic predictions</a:t>
            </a:r>
          </a:p>
        </p:txBody>
      </p:sp>
    </p:spTree>
    <p:extLst>
      <p:ext uri="{BB962C8B-B14F-4D97-AF65-F5344CB8AC3E}">
        <p14:creationId xmlns:p14="http://schemas.microsoft.com/office/powerpoint/2010/main" val="748895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57BC7-7065-DAE9-C572-B4041F14128B}"/>
              </a:ext>
            </a:extLst>
          </p:cNvPr>
          <p:cNvSpPr>
            <a:spLocks noGrp="1"/>
          </p:cNvSpPr>
          <p:nvPr>
            <p:ph type="title"/>
          </p:nvPr>
        </p:nvSpPr>
        <p:spPr>
          <a:xfrm>
            <a:off x="484123" y="267843"/>
            <a:ext cx="11204575" cy="4012893"/>
          </a:xfrm>
        </p:spPr>
        <p:txBody>
          <a:bodyPr/>
          <a:lstStyle/>
          <a:p>
            <a:pPr>
              <a:lnSpc>
                <a:spcPct val="150000"/>
              </a:lnSpc>
            </a:pPr>
            <a:r>
              <a:rPr lang="en-IN" sz="3200" dirty="0"/>
              <a:t>References:</a:t>
            </a:r>
            <a:br>
              <a:rPr lang="en-IN" sz="3200" dirty="0"/>
            </a:br>
            <a:r>
              <a:rPr lang="en-IN" sz="1800" b="0" dirty="0"/>
              <a:t>[1] “Electric Vehicle Energy Demand Prediction Using Machine Learning Techniques,” IEEE Research Paper.</a:t>
            </a:r>
            <a:br>
              <a:rPr lang="en-IN" sz="1800" b="0" dirty="0"/>
            </a:br>
            <a:r>
              <a:rPr lang="en-IN" sz="1800" b="0" dirty="0"/>
              <a:t>[2] Scikit-learn Documentation. Available: </a:t>
            </a:r>
            <a:r>
              <a:rPr lang="en-IN" sz="1800" b="0" u="sng" dirty="0">
                <a:hlinkClick r:id="rId2"/>
              </a:rPr>
              <a:t>https://scikit-learn.org</a:t>
            </a:r>
            <a:br>
              <a:rPr lang="en-IN" sz="1800" b="0" dirty="0"/>
            </a:br>
            <a:r>
              <a:rPr lang="en-IN" sz="1800" b="0" dirty="0"/>
              <a:t>[3] TensorFlow Documentation. Available: </a:t>
            </a:r>
            <a:r>
              <a:rPr lang="en-IN" sz="1800" b="0" u="sng" dirty="0">
                <a:hlinkClick r:id="rId3"/>
              </a:rPr>
              <a:t>https://www.tensorflow.org</a:t>
            </a:r>
            <a:br>
              <a:rPr lang="en-IN" sz="1800" b="0" dirty="0"/>
            </a:br>
            <a:r>
              <a:rPr lang="en-IN" sz="1800" b="0" dirty="0"/>
              <a:t>[4] </a:t>
            </a:r>
            <a:r>
              <a:rPr lang="en-IN" sz="1800" b="0" dirty="0" err="1"/>
              <a:t>Géron</a:t>
            </a:r>
            <a:r>
              <a:rPr lang="en-IN" sz="1800" b="0" dirty="0"/>
              <a:t>, A., </a:t>
            </a:r>
            <a:r>
              <a:rPr lang="en-IN" sz="1800" b="0" i="1" dirty="0"/>
              <a:t>Hands-On Machine Learning with Scikit-Learn, </a:t>
            </a:r>
            <a:r>
              <a:rPr lang="en-IN" sz="1800" b="0" i="1" dirty="0" err="1"/>
              <a:t>Keras</a:t>
            </a:r>
            <a:r>
              <a:rPr lang="en-IN" sz="1800" b="0" i="1" dirty="0"/>
              <a:t>, and TensorFlow</a:t>
            </a:r>
            <a:r>
              <a:rPr lang="en-IN" sz="1800" b="0" dirty="0"/>
              <a:t>, O’Reilly Media, 2019.</a:t>
            </a:r>
            <a:br>
              <a:rPr lang="en-IN" sz="1800" b="0" dirty="0"/>
            </a:br>
            <a:r>
              <a:rPr lang="en-IN" sz="1800" b="0" dirty="0"/>
              <a:t>[5] Brownlee, J., </a:t>
            </a:r>
            <a:r>
              <a:rPr lang="en-IN" sz="1800" b="0" i="1" dirty="0"/>
              <a:t>Deep Learning for Time Series Forecasting</a:t>
            </a:r>
            <a:r>
              <a:rPr lang="en-IN" sz="1800" b="0" dirty="0"/>
              <a:t>, Machine Learning Mastery, 2018.</a:t>
            </a:r>
            <a:br>
              <a:rPr lang="en-IN" sz="1800" b="0" dirty="0"/>
            </a:br>
            <a:r>
              <a:rPr lang="en-IN" sz="1800" b="0" dirty="0"/>
              <a:t>[6] International Energy Agency (IEA), “Global EV Outlook Report,” Available: </a:t>
            </a:r>
            <a:r>
              <a:rPr lang="en-IN" sz="1800" b="0" u="sng" dirty="0">
                <a:hlinkClick r:id="rId4"/>
              </a:rPr>
              <a:t>https://www.iea.org</a:t>
            </a:r>
            <a:br>
              <a:rPr lang="en-IN" sz="1800" b="0" dirty="0"/>
            </a:br>
            <a:br>
              <a:rPr lang="en-IN" sz="1800" b="0" dirty="0"/>
            </a:br>
            <a:endParaRPr lang="en-IN" sz="1800" b="0" dirty="0"/>
          </a:p>
        </p:txBody>
      </p:sp>
    </p:spTree>
    <p:extLst>
      <p:ext uri="{BB962C8B-B14F-4D97-AF65-F5344CB8AC3E}">
        <p14:creationId xmlns:p14="http://schemas.microsoft.com/office/powerpoint/2010/main" val="3343997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2027</TotalTime>
  <Words>2938</Words>
  <Application>Microsoft Office PowerPoint</Application>
  <PresentationFormat>Widescreen</PresentationFormat>
  <Paragraphs>279</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Candara</vt:lpstr>
      <vt:lpstr>Times New Roman</vt:lpstr>
      <vt:lpstr>Wingdings</vt:lpstr>
      <vt:lpstr>Office Theme</vt:lpstr>
      <vt:lpstr>CVR COLLEGE OF ENGINEERING</vt:lpstr>
      <vt:lpstr>Electric Vehicle Energy Demand Prediction</vt:lpstr>
      <vt:lpstr>ABSTRACT</vt:lpstr>
      <vt:lpstr>INTRODUCTION</vt:lpstr>
      <vt:lpstr>LITERATURE SURVEY</vt:lpstr>
      <vt:lpstr>Challenges:</vt:lpstr>
      <vt:lpstr>PROBLEM STATEMENT</vt:lpstr>
      <vt:lpstr>OBJECTIVES</vt:lpstr>
      <vt:lpstr>PowerPoint Presentation</vt:lpstr>
      <vt:lpstr>PROPOSED SYSTEM   The system accepts inputs such as time, weather conditions, number of electric vehicles (EVs), and charging station capacity. These inputs are processed through a preprocessing pipeline that performs data cleaning, feature engineering, encoding, and scaling. The processed data is then used to train multiple machine learning and deep learning models including Linear Regression, Artificial Neural Network (ANN), and Long Short-Term Memory (LSTM).  The system evaluates all trained models using performance metrics such as RMSE, MAE, and R² score, and automatically selects the best-performing model. This selected model is then used during the inference stage to predict real-time EV energy demand through an interactive user interface. </vt:lpstr>
      <vt:lpstr>LIST OF MODULES  </vt:lpstr>
      <vt:lpstr>SOFTWARE REQUIREMENTS </vt:lpstr>
      <vt:lpstr> HARDWARE REQUIREMENTS:</vt:lpstr>
      <vt:lpstr>FUNCTIONAL REQUIREMENTS:</vt:lpstr>
      <vt:lpstr>NON FUNCTIONAL REQUIREMENTS:</vt:lpstr>
      <vt:lpstr>CLASS DIAGRAM:</vt:lpstr>
      <vt:lpstr>USE CASE DIAGRAM:</vt:lpstr>
      <vt:lpstr>ACTIVITY DIAGRAM </vt:lpstr>
      <vt:lpstr>SEQUENCE DIAGRAM</vt:lpstr>
      <vt:lpstr>SYSTEM ARCHITECTURE</vt:lpstr>
      <vt:lpstr>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[1] “Electric Vehicle Energy Demand Prediction Using Machine Learning Techniques,” IEEE Research Paper. [2] Scikit-learn Documentation. Available: https://scikit-learn.org [3] TensorFlow Documentation. Available: https://www.tensorflow.org [4] Géron, A., Hands-On Machine Learning with Scikit-Learn, Keras, and TensorFlow, O’Reilly Media, 2019. [5] Brownlee, J., Deep Learning for Time Series Forecasting, Machine Learning Mastery, 2018. [6] International Energy Agency (IEA), “Global EV Outlook Report,” Available: https://www.iea.org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Khushi Bung</cp:lastModifiedBy>
  <cp:revision>157</cp:revision>
  <dcterms:created xsi:type="dcterms:W3CDTF">2026-01-24T06:07:41Z</dcterms:created>
  <dcterms:modified xsi:type="dcterms:W3CDTF">2026-04-16T09:41:24Z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2026-01-23T00:00:00Z</vt:filetime>
  </property>
  <property fmtid="{D5CDD505-2E9C-101B-9397-08002B2CF9AE}" pid="3" name="Creator">
    <vt:lpwstr>Microsoft® PowerPoint® 2013</vt:lpwstr>
  </property>
  <property fmtid="{D5CDD505-2E9C-101B-9397-08002B2CF9AE}" pid="4" name="LastSaved">
    <vt:filetime>2026-01-24T00:00:00Z</vt:filetime>
  </property>
  <property fmtid="{D5CDD505-2E9C-101B-9397-08002B2CF9AE}" pid="5" name="Producer">
    <vt:lpwstr>Microsoft® PowerPoint® 2013</vt:lpwstr>
  </property>
</Properties>
</file>